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2B27"/>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2B27"/>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2B27"/>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2B27"/>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2B27"/>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2B27"/>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2B27"/>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2B27"/>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2B27"/>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1B2B27"/>
        </a:fontRef>
        <a:srgbClr val="1B2B27"/>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DBD8"/>
          </a:solidFill>
        </a:fill>
      </a:tcStyle>
    </a:wholeTbl>
    <a:band2H>
      <a:tcTxStyle b="def" i="def"/>
      <a:tcStyle>
        <a:tcBdr/>
        <a:fill>
          <a:solidFill>
            <a:srgbClr val="E7EEE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1B2B27"/>
        </a:fontRef>
        <a:srgbClr val="1B2B27"/>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7EDE3"/>
          </a:solidFill>
        </a:fill>
      </a:tcStyle>
    </a:wholeTbl>
    <a:band2H>
      <a:tcTxStyle b="def" i="def"/>
      <a:tcStyle>
        <a:tcBdr/>
        <a:fill>
          <a:solidFill>
            <a:srgbClr val="ECF6F2"/>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1B2B27"/>
        </a:fontRef>
        <a:srgbClr val="1B2B27"/>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BE0D3"/>
          </a:solidFill>
        </a:fill>
      </a:tcStyle>
    </a:wholeTbl>
    <a:band2H>
      <a:tcTxStyle b="def" i="def"/>
      <a:tcStyle>
        <a:tcBdr/>
        <a:fill>
          <a:solidFill>
            <a:srgbClr val="F5F0E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1B2B27"/>
        </a:fontRef>
        <a:srgbClr val="1B2B27"/>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1B2B27"/>
        </a:fontRef>
        <a:srgbClr val="1B2B27"/>
      </a:tcTxStyle>
      <a:tcStyle>
        <a:tcBdr>
          <a:left>
            <a:ln w="12700" cap="flat">
              <a:noFill/>
              <a:miter lim="400000"/>
            </a:ln>
          </a:left>
          <a:right>
            <a:ln w="12700" cap="flat">
              <a:noFill/>
              <a:miter lim="400000"/>
            </a:ln>
          </a:right>
          <a:top>
            <a:ln w="50800" cap="flat">
              <a:solidFill>
                <a:srgbClr val="1B2B27"/>
              </a:solidFill>
              <a:prstDash val="solid"/>
              <a:round/>
            </a:ln>
          </a:top>
          <a:bottom>
            <a:ln w="25400" cap="flat">
              <a:solidFill>
                <a:srgbClr val="1B2B27"/>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1B2B27"/>
              </a:solidFill>
              <a:prstDash val="solid"/>
              <a:round/>
            </a:ln>
          </a:top>
          <a:bottom>
            <a:ln w="25400" cap="flat">
              <a:solidFill>
                <a:srgbClr val="1B2B27"/>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1B2B27"/>
        </a:fontRef>
        <a:srgbClr val="1B2B27"/>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BCB"/>
          </a:solidFill>
        </a:fill>
      </a:tcStyle>
    </a:wholeTbl>
    <a:band2H>
      <a:tcTxStyle b="def" i="def"/>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B2B27"/>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B2B27"/>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B2B27"/>
          </a:solidFill>
        </a:fill>
      </a:tcStyle>
    </a:firstRow>
  </a:tblStyle>
  <a:tblStyle styleId="{2708684C-4D16-4618-839F-0558EEFCDFE6}" styleName="">
    <a:tblBg/>
    <a:wholeTbl>
      <a:tcTxStyle b="off" i="off">
        <a:fontRef idx="minor">
          <a:srgbClr val="1B2B27"/>
        </a:fontRef>
        <a:srgbClr val="1B2B27"/>
      </a:tcTxStyle>
      <a:tcStyle>
        <a:tcBdr>
          <a:left>
            <a:ln w="12700" cap="flat">
              <a:solidFill>
                <a:srgbClr val="1B2B27"/>
              </a:solidFill>
              <a:prstDash val="solid"/>
              <a:round/>
            </a:ln>
          </a:left>
          <a:right>
            <a:ln w="12700" cap="flat">
              <a:solidFill>
                <a:srgbClr val="1B2B27"/>
              </a:solidFill>
              <a:prstDash val="solid"/>
              <a:round/>
            </a:ln>
          </a:right>
          <a:top>
            <a:ln w="12700" cap="flat">
              <a:solidFill>
                <a:srgbClr val="1B2B27"/>
              </a:solidFill>
              <a:prstDash val="solid"/>
              <a:round/>
            </a:ln>
          </a:top>
          <a:bottom>
            <a:ln w="12700" cap="flat">
              <a:solidFill>
                <a:srgbClr val="1B2B27"/>
              </a:solidFill>
              <a:prstDash val="solid"/>
              <a:round/>
            </a:ln>
          </a:bottom>
          <a:insideH>
            <a:ln w="12700" cap="flat">
              <a:solidFill>
                <a:srgbClr val="1B2B27"/>
              </a:solidFill>
              <a:prstDash val="solid"/>
              <a:round/>
            </a:ln>
          </a:insideH>
          <a:insideV>
            <a:ln w="12700" cap="flat">
              <a:solidFill>
                <a:srgbClr val="1B2B27"/>
              </a:solidFill>
              <a:prstDash val="solid"/>
              <a:round/>
            </a:ln>
          </a:insideV>
        </a:tcBdr>
        <a:fill>
          <a:solidFill>
            <a:srgbClr val="1B2B27">
              <a:alpha val="20000"/>
            </a:srgbClr>
          </a:solidFill>
        </a:fill>
      </a:tcStyle>
    </a:wholeTbl>
    <a:band2H>
      <a:tcTxStyle b="def" i="def"/>
      <a:tcStyle>
        <a:tcBdr/>
        <a:fill>
          <a:solidFill>
            <a:srgbClr val="FFFFFF"/>
          </a:solidFill>
        </a:fill>
      </a:tcStyle>
    </a:band2H>
    <a:firstCol>
      <a:tcTxStyle b="on" i="off">
        <a:fontRef idx="minor">
          <a:srgbClr val="1B2B27"/>
        </a:fontRef>
        <a:srgbClr val="1B2B27"/>
      </a:tcTxStyle>
      <a:tcStyle>
        <a:tcBdr>
          <a:left>
            <a:ln w="12700" cap="flat">
              <a:solidFill>
                <a:srgbClr val="1B2B27"/>
              </a:solidFill>
              <a:prstDash val="solid"/>
              <a:round/>
            </a:ln>
          </a:left>
          <a:right>
            <a:ln w="12700" cap="flat">
              <a:solidFill>
                <a:srgbClr val="1B2B27"/>
              </a:solidFill>
              <a:prstDash val="solid"/>
              <a:round/>
            </a:ln>
          </a:right>
          <a:top>
            <a:ln w="12700" cap="flat">
              <a:solidFill>
                <a:srgbClr val="1B2B27"/>
              </a:solidFill>
              <a:prstDash val="solid"/>
              <a:round/>
            </a:ln>
          </a:top>
          <a:bottom>
            <a:ln w="12700" cap="flat">
              <a:solidFill>
                <a:srgbClr val="1B2B27"/>
              </a:solidFill>
              <a:prstDash val="solid"/>
              <a:round/>
            </a:ln>
          </a:bottom>
          <a:insideH>
            <a:ln w="12700" cap="flat">
              <a:solidFill>
                <a:srgbClr val="1B2B27"/>
              </a:solidFill>
              <a:prstDash val="solid"/>
              <a:round/>
            </a:ln>
          </a:insideH>
          <a:insideV>
            <a:ln w="12700" cap="flat">
              <a:solidFill>
                <a:srgbClr val="1B2B27"/>
              </a:solidFill>
              <a:prstDash val="solid"/>
              <a:round/>
            </a:ln>
          </a:insideV>
        </a:tcBdr>
        <a:fill>
          <a:solidFill>
            <a:srgbClr val="1B2B27">
              <a:alpha val="20000"/>
            </a:srgbClr>
          </a:solidFill>
        </a:fill>
      </a:tcStyle>
    </a:firstCol>
    <a:lastRow>
      <a:tcTxStyle b="on" i="off">
        <a:fontRef idx="minor">
          <a:srgbClr val="1B2B27"/>
        </a:fontRef>
        <a:srgbClr val="1B2B27"/>
      </a:tcTxStyle>
      <a:tcStyle>
        <a:tcBdr>
          <a:left>
            <a:ln w="12700" cap="flat">
              <a:solidFill>
                <a:srgbClr val="1B2B27"/>
              </a:solidFill>
              <a:prstDash val="solid"/>
              <a:round/>
            </a:ln>
          </a:left>
          <a:right>
            <a:ln w="12700" cap="flat">
              <a:solidFill>
                <a:srgbClr val="1B2B27"/>
              </a:solidFill>
              <a:prstDash val="solid"/>
              <a:round/>
            </a:ln>
          </a:right>
          <a:top>
            <a:ln w="50800" cap="flat">
              <a:solidFill>
                <a:srgbClr val="1B2B27"/>
              </a:solidFill>
              <a:prstDash val="solid"/>
              <a:round/>
            </a:ln>
          </a:top>
          <a:bottom>
            <a:ln w="12700" cap="flat">
              <a:solidFill>
                <a:srgbClr val="1B2B27"/>
              </a:solidFill>
              <a:prstDash val="solid"/>
              <a:round/>
            </a:ln>
          </a:bottom>
          <a:insideH>
            <a:ln w="12700" cap="flat">
              <a:solidFill>
                <a:srgbClr val="1B2B27"/>
              </a:solidFill>
              <a:prstDash val="solid"/>
              <a:round/>
            </a:ln>
          </a:insideH>
          <a:insideV>
            <a:ln w="12700" cap="flat">
              <a:solidFill>
                <a:srgbClr val="1B2B27"/>
              </a:solidFill>
              <a:prstDash val="solid"/>
              <a:round/>
            </a:ln>
          </a:insideV>
        </a:tcBdr>
        <a:fill>
          <a:noFill/>
        </a:fill>
      </a:tcStyle>
    </a:lastRow>
    <a:firstRow>
      <a:tcTxStyle b="on" i="off">
        <a:fontRef idx="minor">
          <a:srgbClr val="1B2B27"/>
        </a:fontRef>
        <a:srgbClr val="1B2B27"/>
      </a:tcTxStyle>
      <a:tcStyle>
        <a:tcBdr>
          <a:left>
            <a:ln w="12700" cap="flat">
              <a:solidFill>
                <a:srgbClr val="1B2B27"/>
              </a:solidFill>
              <a:prstDash val="solid"/>
              <a:round/>
            </a:ln>
          </a:left>
          <a:right>
            <a:ln w="12700" cap="flat">
              <a:solidFill>
                <a:srgbClr val="1B2B27"/>
              </a:solidFill>
              <a:prstDash val="solid"/>
              <a:round/>
            </a:ln>
          </a:right>
          <a:top>
            <a:ln w="12700" cap="flat">
              <a:solidFill>
                <a:srgbClr val="1B2B27"/>
              </a:solidFill>
              <a:prstDash val="solid"/>
              <a:round/>
            </a:ln>
          </a:top>
          <a:bottom>
            <a:ln w="25400" cap="flat">
              <a:solidFill>
                <a:srgbClr val="1B2B27"/>
              </a:solidFill>
              <a:prstDash val="solid"/>
              <a:round/>
            </a:ln>
          </a:bottom>
          <a:insideH>
            <a:ln w="12700" cap="flat">
              <a:solidFill>
                <a:srgbClr val="1B2B27"/>
              </a:solidFill>
              <a:prstDash val="solid"/>
              <a:round/>
            </a:ln>
          </a:insideH>
          <a:insideV>
            <a:ln w="12700" cap="flat">
              <a:solidFill>
                <a:srgbClr val="1B2B27"/>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2" name="Shape 32"/>
          <p:cNvSpPr/>
          <p:nvPr>
            <p:ph type="sldImg"/>
          </p:nvPr>
        </p:nvSpPr>
        <p:spPr>
          <a:xfrm>
            <a:off x="1143000" y="685800"/>
            <a:ext cx="4572000" cy="3429000"/>
          </a:xfrm>
          <a:prstGeom prst="rect">
            <a:avLst/>
          </a:prstGeom>
        </p:spPr>
        <p:txBody>
          <a:bodyPr/>
          <a:lstStyle/>
          <a:p>
            <a:pPr/>
          </a:p>
        </p:txBody>
      </p:sp>
      <p:sp>
        <p:nvSpPr>
          <p:cNvPr id="33" name="Shape 3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1B2B27"/>
        </a:solidFill>
        <a:latin typeface="+mn-lt"/>
        <a:ea typeface="+mn-ea"/>
        <a:cs typeface="+mn-cs"/>
        <a:sym typeface="Calibri"/>
      </a:defRPr>
    </a:lvl1pPr>
    <a:lvl2pPr indent="228600" latinLnBrk="0">
      <a:defRPr sz="1200">
        <a:solidFill>
          <a:srgbClr val="1B2B27"/>
        </a:solidFill>
        <a:latin typeface="+mn-lt"/>
        <a:ea typeface="+mn-ea"/>
        <a:cs typeface="+mn-cs"/>
        <a:sym typeface="Calibri"/>
      </a:defRPr>
    </a:lvl2pPr>
    <a:lvl3pPr indent="457200" latinLnBrk="0">
      <a:defRPr sz="1200">
        <a:solidFill>
          <a:srgbClr val="1B2B27"/>
        </a:solidFill>
        <a:latin typeface="+mn-lt"/>
        <a:ea typeface="+mn-ea"/>
        <a:cs typeface="+mn-cs"/>
        <a:sym typeface="Calibri"/>
      </a:defRPr>
    </a:lvl3pPr>
    <a:lvl4pPr indent="685800" latinLnBrk="0">
      <a:defRPr sz="1200">
        <a:solidFill>
          <a:srgbClr val="1B2B27"/>
        </a:solidFill>
        <a:latin typeface="+mn-lt"/>
        <a:ea typeface="+mn-ea"/>
        <a:cs typeface="+mn-cs"/>
        <a:sym typeface="Calibri"/>
      </a:defRPr>
    </a:lvl4pPr>
    <a:lvl5pPr indent="914400" latinLnBrk="0">
      <a:defRPr sz="1200">
        <a:solidFill>
          <a:srgbClr val="1B2B27"/>
        </a:solidFill>
        <a:latin typeface="+mn-lt"/>
        <a:ea typeface="+mn-ea"/>
        <a:cs typeface="+mn-cs"/>
        <a:sym typeface="Calibri"/>
      </a:defRPr>
    </a:lvl5pPr>
    <a:lvl6pPr indent="1143000" latinLnBrk="0">
      <a:defRPr sz="1200">
        <a:solidFill>
          <a:srgbClr val="1B2B27"/>
        </a:solidFill>
        <a:latin typeface="+mn-lt"/>
        <a:ea typeface="+mn-ea"/>
        <a:cs typeface="+mn-cs"/>
        <a:sym typeface="Calibri"/>
      </a:defRPr>
    </a:lvl6pPr>
    <a:lvl7pPr indent="1371600" latinLnBrk="0">
      <a:defRPr sz="1200">
        <a:solidFill>
          <a:srgbClr val="1B2B27"/>
        </a:solidFill>
        <a:latin typeface="+mn-lt"/>
        <a:ea typeface="+mn-ea"/>
        <a:cs typeface="+mn-cs"/>
        <a:sym typeface="Calibri"/>
      </a:defRPr>
    </a:lvl7pPr>
    <a:lvl8pPr indent="1600200" latinLnBrk="0">
      <a:defRPr sz="1200">
        <a:solidFill>
          <a:srgbClr val="1B2B27"/>
        </a:solidFill>
        <a:latin typeface="+mn-lt"/>
        <a:ea typeface="+mn-ea"/>
        <a:cs typeface="+mn-cs"/>
        <a:sym typeface="Calibri"/>
      </a:defRPr>
    </a:lvl8pPr>
    <a:lvl9pPr indent="1828800" latinLnBrk="0">
      <a:defRPr sz="1200">
        <a:solidFill>
          <a:srgbClr val="1B2B27"/>
        </a:solidFill>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 name="Shape 39"/>
          <p:cNvSpPr/>
          <p:nvPr>
            <p:ph type="sldImg"/>
          </p:nvPr>
        </p:nvSpPr>
        <p:spPr>
          <a:prstGeom prst="rect">
            <a:avLst/>
          </a:prstGeom>
        </p:spPr>
        <p:txBody>
          <a:bodyPr/>
          <a:lstStyle/>
          <a:p>
            <a:pPr/>
          </a:p>
        </p:txBody>
      </p:sp>
      <p:sp>
        <p:nvSpPr>
          <p:cNvPr id="40" name="Shape 40"/>
          <p:cNvSpPr/>
          <p:nvPr>
            <p:ph type="body" sz="quarter" idx="1"/>
          </p:nvPr>
        </p:nvSpPr>
        <p:spPr>
          <a:prstGeom prst="rect">
            <a:avLst/>
          </a:prstGeom>
        </p:spPr>
        <p:txBody>
          <a:bodyPr/>
          <a:lstStyle/>
          <a:p>
            <a:pPr/>
            <a:r>
              <a:t>Hi, I'm Muskan, and this is David. Our project is a data lake for a made-up outdoor retailer called Thornquist Outfitters. The idea is simple: sales data comes in from different places in different shapes, and we built a pipeline on AWS that keeps everything, checks it, cleans it, and only lets trusted data reach the analysts. I'll cover how the data gets in and gets converted. David will cover the quality gate, the analytics, and governance.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 name="Shape 64"/>
          <p:cNvSpPr/>
          <p:nvPr>
            <p:ph type="sldImg"/>
          </p:nvPr>
        </p:nvSpPr>
        <p:spPr>
          <a:prstGeom prst="rect">
            <a:avLst/>
          </a:prstGeom>
        </p:spPr>
        <p:txBody>
          <a:bodyPr/>
          <a:lstStyle/>
          <a:p>
            <a:pPr/>
          </a:p>
        </p:txBody>
      </p:sp>
      <p:sp>
        <p:nvSpPr>
          <p:cNvPr id="65" name="Shape 65"/>
          <p:cNvSpPr/>
          <p:nvPr>
            <p:ph type="body" sz="quarter" idx="1"/>
          </p:nvPr>
        </p:nvSpPr>
        <p:spPr>
          <a:prstGeom prst="rect">
            <a:avLst/>
          </a:prstGeom>
        </p:spPr>
        <p:txBody>
          <a:bodyPr/>
          <a:lstStyle/>
          <a:p>
            <a:pPr/>
            <a:r>
              <a:t>Here's what we're working with. The data is synthetic, and we added problems on purpose to test the pipeline. First, POS files: a CSV per day from 40 stores, with bad dates, duplicates and zero prices, and two broken files, one completely empty and one with only a header. Second, online orders as JSON from the web and the app, with the items nested inside each order. Third, a customer list as a pipe-delimited file, with two snapshots. So three formats and plenty of mess. The goal is a lake that keeps every file, checks it, cleans it, and only lets trusted data through to analysts.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 name="Shape 132"/>
          <p:cNvSpPr/>
          <p:nvPr>
            <p:ph type="sldImg"/>
          </p:nvPr>
        </p:nvSpPr>
        <p:spPr>
          <a:prstGeom prst="rect">
            <a:avLst/>
          </a:prstGeom>
        </p:spPr>
        <p:txBody>
          <a:bodyPr/>
          <a:lstStyle/>
          <a:p>
            <a:pPr/>
          </a:p>
        </p:txBody>
      </p:sp>
      <p:sp>
        <p:nvSpPr>
          <p:cNvPr id="133" name="Shape 133"/>
          <p:cNvSpPr/>
          <p:nvPr>
            <p:ph type="body" sz="quarter" idx="1"/>
          </p:nvPr>
        </p:nvSpPr>
        <p:spPr>
          <a:prstGeom prst="rect">
            <a:avLst/>
          </a:prstGeom>
        </p:spPr>
        <p:txBody>
          <a:bodyPr/>
          <a:lstStyle/>
          <a:p>
            <a:pPr/>
            <a:r>
              <a:t>This is the whole pipeline on one page, in order from 1 to 10. Part 1: three sources go through one upload script into the landing bucket. Part 2: a Lambda function checks each file and either copies it to raw or moves it to a quarantine folder. Part 3: Glue jobs convert the raw files into Parquet with proper types, and put them in the trusted bucket. Part 4 is David's: the quality gate, the curated bucket, and Athena with the dashboard. Each zone is its own S3 bucket and data only moves forward. Landing keeps exactly what was sent. Raw has only the files that passed the checks. Trusted has proper types in one shared schema, but it is not quality checked yet. Curated has only rows that passed all five rules. Underneath, the Glue Data Catalog describes what is in raw and trusted. CloudFormation builds all of it in three stacks: one for the buckets and Lambda, one for the catalog and Athena, and one for the Glue jobs and trusted catalog, all in the repo so anyone can rebuild it from the runbook. The dashed box is Lake Formation, which we planned but the Learner Lab blocks, and David will explain that.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154"/>
          <p:cNvSpPr/>
          <p:nvPr>
            <p:ph type="sldImg"/>
          </p:nvPr>
        </p:nvSpPr>
        <p:spPr>
          <a:prstGeom prst="rect">
            <a:avLst/>
          </a:prstGeom>
        </p:spPr>
        <p:txBody>
          <a:bodyPr/>
          <a:lstStyle/>
          <a:p>
            <a:pPr/>
          </a:p>
        </p:txBody>
      </p:sp>
      <p:sp>
        <p:nvSpPr>
          <p:cNvPr id="155" name="Shape 155"/>
          <p:cNvSpPr/>
          <p:nvPr>
            <p:ph type="body" sz="quarter" idx="1"/>
          </p:nvPr>
        </p:nvSpPr>
        <p:spPr>
          <a:prstGeom prst="rect">
            <a:avLst/>
          </a:prstGeom>
        </p:spPr>
        <p:txBody>
          <a:bodyPr/>
          <a:lstStyle/>
          <a:p>
            <a:pPr/>
            <a:r>
              <a:t>Getting the data in. I wrote one upload script, pos_upload.py, for all three sources, and I just change a format flag. The script checks each file, but it never rejects anything. If a file looks broken, it logs a warning and still uploads it, because landing is supposed to keep everything exactly as it was sent. The Lambda is the real gate. It fires on every upload and checks for an empty file, a wrong header, a header with no rows, or invalid JSON. Good files are copied to raw, bad ones go to a quarantine folder with a reject reason. In our run, 16 POS files were uploaded and 2 were flagged, the empty one and the header-only one. The Lambda quarantined both, so raw has the other 14. We'll see this live in the demo.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Shape 164"/>
          <p:cNvSpPr/>
          <p:nvPr>
            <p:ph type="sldImg"/>
          </p:nvPr>
        </p:nvSpPr>
        <p:spPr>
          <a:prstGeom prst="rect">
            <a:avLst/>
          </a:prstGeom>
        </p:spPr>
        <p:txBody>
          <a:bodyPr/>
          <a:lstStyle/>
          <a:p>
            <a:pPr/>
          </a:p>
        </p:txBody>
      </p:sp>
      <p:sp>
        <p:nvSpPr>
          <p:cNvPr id="165" name="Shape 165"/>
          <p:cNvSpPr/>
          <p:nvPr>
            <p:ph type="body" sz="quarter" idx="1"/>
          </p:nvPr>
        </p:nvSpPr>
        <p:spPr>
          <a:prstGeom prst="rect">
            <a:avLst/>
          </a:prstGeom>
        </p:spPr>
        <p:txBody>
          <a:bodyPr/>
          <a:lstStyle/>
          <a:p>
            <a:pPr/>
            <a:r>
              <a:t>Now raw to trusted. A Glue crawler first describes the raw files so Athena can read them. Then two Glue jobs convert the data: a sales job that runs on demand, and a customers job on a weekly schedule. They write Parquet, which is a compact column format, with real types, so dates are dates and prices are numbers. One word to explain is conform. It means every source ends up in the same shape. It does not mean the data is good. If a date or price can't be read, the job doesn't drop the row. It records the problem as a parse error, 51 dates and 13 prices in our data. The result is 4,633 sales rows, 2,734 from stores, 974 from the app and 925 from the web, plus 505 customers.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Shape 180"/>
          <p:cNvSpPr/>
          <p:nvPr>
            <p:ph type="sldImg"/>
          </p:nvPr>
        </p:nvSpPr>
        <p:spPr>
          <a:prstGeom prst="rect">
            <a:avLst/>
          </a:prstGeom>
        </p:spPr>
        <p:txBody>
          <a:bodyPr/>
          <a:lstStyle/>
          <a:p>
            <a:pPr/>
          </a:p>
        </p:txBody>
      </p:sp>
      <p:sp>
        <p:nvSpPr>
          <p:cNvPr id="181" name="Shape 181"/>
          <p:cNvSpPr/>
          <p:nvPr>
            <p:ph type="body" sz="quarter" idx="1"/>
          </p:nvPr>
        </p:nvSpPr>
        <p:spPr>
          <a:prstGeom prst="rect">
            <a:avLst/>
          </a:prstGeom>
        </p:spPr>
        <p:txBody>
          <a:bodyPr/>
          <a:lstStyle/>
          <a:p>
            <a:pPr/>
            <a:r>
              <a:t>[David] The quality gate reads the trusted table and applies five rules written as Athena SQL: duplicate sale IDs, an invalid sale date, a price of zero or less, a quantity of zero or less, and a blank or unknown category. Of 4,633 rows, 4,381 passed and went to the curated bucket, 94.6 percent. 252 failed and went to quarantine, each with the reasons it failed. One row can fail more than one rule, so the per-rule counts add up to more than 252. The important point is that nothing is deleted. Failed rows are kept and labelled.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Shape 192"/>
          <p:cNvSpPr/>
          <p:nvPr>
            <p:ph type="sldImg"/>
          </p:nvPr>
        </p:nvSpPr>
        <p:spPr>
          <a:prstGeom prst="rect">
            <a:avLst/>
          </a:prstGeom>
        </p:spPr>
        <p:txBody>
          <a:bodyPr/>
          <a:lstStyle/>
          <a:p>
            <a:pPr/>
          </a:p>
        </p:txBody>
      </p:sp>
      <p:sp>
        <p:nvSpPr>
          <p:cNvPr id="193" name="Shape 193"/>
          <p:cNvSpPr/>
          <p:nvPr>
            <p:ph type="body" sz="quarter" idx="1"/>
          </p:nvPr>
        </p:nvSpPr>
        <p:spPr>
          <a:prstGeom prst="rect">
            <a:avLst/>
          </a:prstGeom>
        </p:spPr>
        <p:txBody>
          <a:bodyPr/>
          <a:lstStyle/>
          <a:p>
            <a:pPr/>
            <a:r>
              <a:t>[David] Analysts query the curated tables in Athena, and the dashboard is built from those queries. It only shows rows that passed the gate. Revenue is 696,987 dollars Canadian. Online orders are in US dollars and are converted at 1.425, the average Bank of Canada rate for 5 to 9 October. Camping is 43 percent of revenue, and Ontario and Quebec bring in 64 percent. The dashboard also shows how many items each rule flagged, so the quality story is visible to the business.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Shape 213"/>
          <p:cNvSpPr/>
          <p:nvPr>
            <p:ph type="sldImg"/>
          </p:nvPr>
        </p:nvSpPr>
        <p:spPr>
          <a:prstGeom prst="rect">
            <a:avLst/>
          </a:prstGeom>
        </p:spPr>
        <p:txBody>
          <a:bodyPr/>
          <a:lstStyle/>
          <a:p>
            <a:pPr/>
          </a:p>
        </p:txBody>
      </p:sp>
      <p:sp>
        <p:nvSpPr>
          <p:cNvPr id="214" name="Shape 214"/>
          <p:cNvSpPr/>
          <p:nvPr>
            <p:ph type="body" sz="quarter" idx="1"/>
          </p:nvPr>
        </p:nvSpPr>
        <p:spPr>
          <a:prstGeom prst="rect">
            <a:avLst/>
          </a:prstGeom>
        </p:spPr>
        <p:txBody>
          <a:bodyPr/>
          <a:lstStyle/>
          <a:p>
            <a:pPr/>
            <a:r>
              <a:t>[David] For governance, the rule is that analysts only see curated data. What we built is bucket policies that deny access to the upstream zones and quarantine except for the pipeline role, an IAM policy for the analyst limited to curated data and one Athena workgroup, and a 1 gigabyte scan limit on that workgroup. We also planned Lake Formation, which would give column-level permissions on the curated table. We could not build it, because the Learner Lab role gets an AccessDenied error on Lake Formation. We documented the permission set in the repo and used the policies above as the fallback. So the design is complete, but that last piece is a plan, not a working system.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Shape 218"/>
          <p:cNvSpPr/>
          <p:nvPr>
            <p:ph type="sldImg"/>
          </p:nvPr>
        </p:nvSpPr>
        <p:spPr>
          <a:prstGeom prst="rect">
            <a:avLst/>
          </a:prstGeom>
        </p:spPr>
        <p:txBody>
          <a:bodyPr/>
          <a:lstStyle/>
          <a:p>
            <a:pPr/>
          </a:p>
        </p:txBody>
      </p:sp>
      <p:sp>
        <p:nvSpPr>
          <p:cNvPr id="219" name="Shape 219"/>
          <p:cNvSpPr/>
          <p:nvPr>
            <p:ph type="body" sz="quarter" idx="1"/>
          </p:nvPr>
        </p:nvSpPr>
        <p:spPr>
          <a:prstGeom prst="rect">
            <a:avLst/>
          </a:prstGeom>
        </p:spPr>
        <p:txBody>
          <a:bodyPr/>
          <a:lstStyle/>
          <a:p>
            <a:pPr/>
            <a:r>
              <a:t>That's the design. Now I'll show it running: I'll drop in a broken file and show the Lambda quarantining it, run the raw crawler and the Glue jobs live, and then query the trusted tables in Athena. After that we'll take questions.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DARK">
    <p:bg>
      <p:bgPr>
        <a:solidFill>
          <a:schemeClr val="accent4"/>
        </a:solidFill>
      </p:bgPr>
    </p:bg>
    <p:spTree>
      <p:nvGrpSpPr>
        <p:cNvPr id="1" name=""/>
        <p:cNvGrpSpPr/>
        <p:nvPr/>
      </p:nvGrpSpPr>
      <p:grpSpPr>
        <a:xfrm>
          <a:off x="0" y="0"/>
          <a:ext cx="0" cy="0"/>
          <a:chOff x="0" y="0"/>
          <a:chExt cx="0" cy="0"/>
        </a:xfrm>
      </p:grpSpPr>
      <p:sp>
        <p:nvSpPr>
          <p:cNvPr id="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spTree>
      <p:nvGrpSpPr>
        <p:cNvPr id="1" name=""/>
        <p:cNvGrpSpPr/>
        <p:nvPr/>
      </p:nvGrpSpPr>
      <p:grpSpPr>
        <a:xfrm>
          <a:off x="0" y="0"/>
          <a:ext cx="0" cy="0"/>
          <a:chOff x="0" y="0"/>
          <a:chExt cx="0" cy="0"/>
        </a:xfrm>
      </p:grpSpPr>
      <p:sp>
        <p:nvSpPr>
          <p:cNvPr id="25" name="Click to add title"/>
          <p:cNvSpPr txBox="1"/>
          <p:nvPr>
            <p:ph type="title" hasCustomPrompt="1"/>
          </p:nvPr>
        </p:nvSpPr>
        <p:spPr>
          <a:xfrm>
            <a:off x="457200" y="274320"/>
            <a:ext cx="6583681" cy="731520"/>
          </a:xfrm>
          <a:prstGeom prst="rect">
            <a:avLst/>
          </a:prstGeom>
        </p:spPr>
        <p:txBody>
          <a:bodyPr anchor="t">
            <a:normAutofit fontScale="100000" lnSpcReduction="0"/>
          </a:bodyPr>
          <a:lstStyle>
            <a:lvl1pPr algn="l">
              <a:defRPr sz="3400">
                <a:solidFill>
                  <a:schemeClr val="accent4"/>
                </a:solidFill>
              </a:defRPr>
            </a:lvl1pPr>
          </a:lstStyle>
          <a:p>
            <a:pPr/>
            <a:r>
              <a:t>Click to add title</a:t>
            </a:r>
          </a:p>
        </p:txBody>
      </p:sp>
      <p:sp>
        <p:nvSpPr>
          <p:cNvPr id="26" name="Slide Number"/>
          <p:cNvSpPr txBox="1"/>
          <p:nvPr>
            <p:ph type="sldNum" sz="quarter" idx="2"/>
          </p:nvPr>
        </p:nvSpPr>
        <p:spPr>
          <a:xfrm>
            <a:off x="8545363" y="4800600"/>
            <a:ext cx="232878" cy="22851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767262"/>
            <a:ext cx="2133600" cy="279401"/>
          </a:xfrm>
          <a:prstGeom prst="rect">
            <a:avLst/>
          </a:prstGeom>
          <a:ln w="12700">
            <a:miter lim="400000"/>
          </a:ln>
        </p:spPr>
        <p:txBody>
          <a:bodyPr wrap="none" lIns="45719" rIns="45719">
            <a:spAutoFit/>
          </a:bodyPr>
          <a:lstStyle>
            <a:lvl1pPr algn="r">
              <a:defRPr sz="1000">
                <a:solidFill>
                  <a:srgbClr val="5E6F69"/>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2B27"/>
          </a:solidFill>
          <a:uFillTx/>
          <a:latin typeface="Cambria"/>
          <a:ea typeface="Cambria"/>
          <a:cs typeface="Cambria"/>
          <a:sym typeface="Cambria"/>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2B27"/>
          </a:solidFill>
          <a:uFillTx/>
          <a:latin typeface="Cambria"/>
          <a:ea typeface="Cambria"/>
          <a:cs typeface="Cambria"/>
          <a:sym typeface="Cambria"/>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2B27"/>
          </a:solidFill>
          <a:uFillTx/>
          <a:latin typeface="Cambria"/>
          <a:ea typeface="Cambria"/>
          <a:cs typeface="Cambria"/>
          <a:sym typeface="Cambria"/>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2B27"/>
          </a:solidFill>
          <a:uFillTx/>
          <a:latin typeface="Cambria"/>
          <a:ea typeface="Cambria"/>
          <a:cs typeface="Cambria"/>
          <a:sym typeface="Cambria"/>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2B27"/>
          </a:solidFill>
          <a:uFillTx/>
          <a:latin typeface="Cambria"/>
          <a:ea typeface="Cambria"/>
          <a:cs typeface="Cambria"/>
          <a:sym typeface="Cambria"/>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2B27"/>
          </a:solidFill>
          <a:uFillTx/>
          <a:latin typeface="Cambria"/>
          <a:ea typeface="Cambria"/>
          <a:cs typeface="Cambria"/>
          <a:sym typeface="Cambria"/>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2B27"/>
          </a:solidFill>
          <a:uFillTx/>
          <a:latin typeface="Cambria"/>
          <a:ea typeface="Cambria"/>
          <a:cs typeface="Cambria"/>
          <a:sym typeface="Cambria"/>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2B27"/>
          </a:solidFill>
          <a:uFillTx/>
          <a:latin typeface="Cambria"/>
          <a:ea typeface="Cambria"/>
          <a:cs typeface="Cambria"/>
          <a:sym typeface="Cambria"/>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2B27"/>
          </a:solidFill>
          <a:uFillTx/>
          <a:latin typeface="Cambria"/>
          <a:ea typeface="Cambria"/>
          <a:cs typeface="Cambria"/>
          <a:sym typeface="Cambria"/>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2B27"/>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2B27"/>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2B27"/>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2B27"/>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2B27"/>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2B27"/>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2B27"/>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2B27"/>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2B27"/>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 name="Text 0"/>
          <p:cNvSpPr txBox="1"/>
          <p:nvPr/>
        </p:nvSpPr>
        <p:spPr>
          <a:xfrm>
            <a:off x="640079" y="1283970"/>
            <a:ext cx="7863842" cy="723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4800">
                <a:solidFill>
                  <a:srgbClr val="FFFFFF"/>
                </a:solidFill>
                <a:latin typeface="Cambria"/>
                <a:ea typeface="Cambria"/>
                <a:cs typeface="Cambria"/>
                <a:sym typeface="Cambria"/>
              </a:defRPr>
            </a:lvl1pPr>
          </a:lstStyle>
          <a:p>
            <a:pPr/>
            <a:r>
              <a:t>Thornquist Outfitters</a:t>
            </a:r>
          </a:p>
        </p:txBody>
      </p:sp>
      <p:sp>
        <p:nvSpPr>
          <p:cNvPr id="36" name="Text 1"/>
          <p:cNvSpPr txBox="1"/>
          <p:nvPr/>
        </p:nvSpPr>
        <p:spPr>
          <a:xfrm>
            <a:off x="640079" y="2213610"/>
            <a:ext cx="786384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chemeClr val="accent3"/>
                </a:solidFill>
                <a:latin typeface="Cambria"/>
                <a:ea typeface="Cambria"/>
                <a:cs typeface="Cambria"/>
                <a:sym typeface="Cambria"/>
              </a:defRPr>
            </a:lvl1pPr>
          </a:lstStyle>
          <a:p>
            <a:pPr/>
            <a:r>
              <a:t>A governed data lake on AWS</a:t>
            </a:r>
          </a:p>
        </p:txBody>
      </p:sp>
      <p:sp>
        <p:nvSpPr>
          <p:cNvPr id="37" name="Text 2"/>
          <p:cNvSpPr txBox="1"/>
          <p:nvPr/>
        </p:nvSpPr>
        <p:spPr>
          <a:xfrm>
            <a:off x="640079" y="3262456"/>
            <a:ext cx="786384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FFFFFF"/>
                </a:solidFill>
              </a:defRPr>
            </a:lvl1pPr>
          </a:lstStyle>
          <a:p>
            <a:pPr/>
            <a:r>
              <a:t>CCGC 5506 midterm  |  AWS Learner Lab</a:t>
            </a:r>
          </a:p>
        </p:txBody>
      </p:sp>
      <p:sp>
        <p:nvSpPr>
          <p:cNvPr id="38" name="Text 3"/>
          <p:cNvSpPr txBox="1"/>
          <p:nvPr/>
        </p:nvSpPr>
        <p:spPr>
          <a:xfrm>
            <a:off x="640079" y="3673936"/>
            <a:ext cx="786384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FFFFFF"/>
                </a:solidFill>
              </a:defRPr>
            </a:lvl1pPr>
          </a:lstStyle>
          <a:p>
            <a:pPr/>
            <a:r>
              <a:t>Muskan and David Beharry</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 name="Text 0"/>
          <p:cNvSpPr txBox="1"/>
          <p:nvPr>
            <p:ph type="title"/>
          </p:nvPr>
        </p:nvSpPr>
        <p:spPr>
          <a:xfrm>
            <a:off x="457199" y="274319"/>
            <a:ext cx="6583682" cy="731522"/>
          </a:xfrm>
          <a:prstGeom prst="rect">
            <a:avLst/>
          </a:prstGeom>
        </p:spPr>
        <p:txBody>
          <a:bodyPr lIns="0" tIns="0" rIns="0" bIns="0" anchor="ctr"/>
          <a:lstStyle/>
          <a:p>
            <a:pPr/>
            <a:r>
              <a:t>Three messy sources</a:t>
            </a:r>
          </a:p>
        </p:txBody>
      </p:sp>
      <p:sp>
        <p:nvSpPr>
          <p:cNvPr id="43" name="Source card 1"/>
          <p:cNvSpPr/>
          <p:nvPr/>
        </p:nvSpPr>
        <p:spPr>
          <a:xfrm>
            <a:off x="457200" y="1280160"/>
            <a:ext cx="2651761" cy="2606040"/>
          </a:xfrm>
          <a:prstGeom prst="roundRect">
            <a:avLst>
              <a:gd name="adj" fmla="val 3509"/>
            </a:avLst>
          </a:prstGeom>
          <a:solidFill>
            <a:srgbClr val="EAF2EE"/>
          </a:solidFill>
          <a:ln w="12700">
            <a:solidFill>
              <a:srgbClr val="EAF2EE"/>
            </a:solidFill>
          </a:ln>
        </p:spPr>
        <p:txBody>
          <a:bodyPr lIns="45719" rIns="45719"/>
          <a:lstStyle/>
          <a:p>
            <a:pPr/>
          </a:p>
        </p:txBody>
      </p:sp>
      <p:sp>
        <p:nvSpPr>
          <p:cNvPr id="44" name="Shape 2"/>
          <p:cNvSpPr/>
          <p:nvPr/>
        </p:nvSpPr>
        <p:spPr>
          <a:xfrm>
            <a:off x="640080" y="1463039"/>
            <a:ext cx="548641" cy="548641"/>
          </a:xfrm>
          <a:prstGeom prst="ellipse">
            <a:avLst/>
          </a:prstGeom>
          <a:solidFill>
            <a:schemeClr val="accent4"/>
          </a:solidFill>
          <a:ln w="12700">
            <a:solidFill>
              <a:schemeClr val="accent4"/>
            </a:solidFill>
          </a:ln>
        </p:spPr>
        <p:txBody>
          <a:bodyPr lIns="45719" rIns="45719"/>
          <a:lstStyle/>
          <a:p>
            <a:pPr/>
          </a:p>
        </p:txBody>
      </p:sp>
      <p:pic>
        <p:nvPicPr>
          <p:cNvPr id="45" name="Image 0" descr="Image 0"/>
          <p:cNvPicPr>
            <a:picLocks noChangeAspect="1"/>
          </p:cNvPicPr>
          <p:nvPr/>
        </p:nvPicPr>
        <p:blipFill>
          <a:blip r:embed="rId3">
            <a:extLst/>
          </a:blip>
          <a:stretch>
            <a:fillRect/>
          </a:stretch>
        </p:blipFill>
        <p:spPr>
          <a:xfrm>
            <a:off x="788212" y="1611172"/>
            <a:ext cx="252375" cy="252375"/>
          </a:xfrm>
          <a:prstGeom prst="rect">
            <a:avLst/>
          </a:prstGeom>
          <a:ln w="12700">
            <a:miter lim="400000"/>
          </a:ln>
        </p:spPr>
      </p:pic>
      <p:sp>
        <p:nvSpPr>
          <p:cNvPr id="46" name="Text 3"/>
          <p:cNvSpPr txBox="1"/>
          <p:nvPr/>
        </p:nvSpPr>
        <p:spPr>
          <a:xfrm>
            <a:off x="1325880" y="1497664"/>
            <a:ext cx="169164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4"/>
                </a:solidFill>
              </a:defRPr>
            </a:lvl1pPr>
          </a:lstStyle>
          <a:p>
            <a:pPr/>
            <a:r>
              <a:t>POS files</a:t>
            </a:r>
          </a:p>
        </p:txBody>
      </p:sp>
      <p:sp>
        <p:nvSpPr>
          <p:cNvPr id="47" name="Text 4"/>
          <p:cNvSpPr txBox="1"/>
          <p:nvPr/>
        </p:nvSpPr>
        <p:spPr>
          <a:xfrm>
            <a:off x="1325880" y="1798128"/>
            <a:ext cx="169164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5E6F69"/>
                </a:solidFill>
              </a:defRPr>
            </a:lvl1pPr>
          </a:lstStyle>
          <a:p>
            <a:pPr/>
            <a:r>
              <a:t>CSV, 40 stores</a:t>
            </a:r>
          </a:p>
        </p:txBody>
      </p:sp>
      <p:sp>
        <p:nvSpPr>
          <p:cNvPr id="48" name="Text 5"/>
          <p:cNvSpPr txBox="1"/>
          <p:nvPr/>
        </p:nvSpPr>
        <p:spPr>
          <a:xfrm>
            <a:off x="640080" y="2240279"/>
            <a:ext cx="2286001" cy="1306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800"/>
              </a:spcBef>
              <a:buSzPct val="100000"/>
              <a:buChar char="•"/>
              <a:defRPr sz="1400"/>
            </a:pPr>
            <a:r>
              <a:t>One file per day, 14 days</a:t>
            </a:r>
          </a:p>
          <a:p>
            <a:pPr marL="342900" indent="-342900">
              <a:spcBef>
                <a:spcPts val="800"/>
              </a:spcBef>
              <a:buSzPct val="100000"/>
              <a:buChar char="•"/>
              <a:defRPr sz="1400"/>
            </a:pPr>
            <a:r>
              <a:t>Bad dates, duplicates, zero prices</a:t>
            </a:r>
          </a:p>
          <a:p>
            <a:pPr marL="342900" indent="-342900">
              <a:spcBef>
                <a:spcPts val="800"/>
              </a:spcBef>
              <a:buSzPct val="100000"/>
              <a:buChar char="•"/>
              <a:defRPr sz="1400"/>
            </a:pPr>
            <a:r>
              <a:t>2 broken files: one empty, one header only</a:t>
            </a:r>
          </a:p>
        </p:txBody>
      </p:sp>
      <p:sp>
        <p:nvSpPr>
          <p:cNvPr id="49" name="Source card 2"/>
          <p:cNvSpPr/>
          <p:nvPr/>
        </p:nvSpPr>
        <p:spPr>
          <a:xfrm>
            <a:off x="3246120" y="1280160"/>
            <a:ext cx="2651761" cy="2606040"/>
          </a:xfrm>
          <a:prstGeom prst="roundRect">
            <a:avLst>
              <a:gd name="adj" fmla="val 3509"/>
            </a:avLst>
          </a:prstGeom>
          <a:solidFill>
            <a:srgbClr val="EAF2EE"/>
          </a:solidFill>
          <a:ln w="12700">
            <a:solidFill>
              <a:srgbClr val="EAF2EE"/>
            </a:solidFill>
          </a:ln>
        </p:spPr>
        <p:txBody>
          <a:bodyPr lIns="45719" rIns="45719"/>
          <a:lstStyle/>
          <a:p>
            <a:pPr/>
          </a:p>
        </p:txBody>
      </p:sp>
      <p:sp>
        <p:nvSpPr>
          <p:cNvPr id="50" name="Shape 7"/>
          <p:cNvSpPr/>
          <p:nvPr/>
        </p:nvSpPr>
        <p:spPr>
          <a:xfrm>
            <a:off x="3429000" y="1463039"/>
            <a:ext cx="548641" cy="548641"/>
          </a:xfrm>
          <a:prstGeom prst="ellipse">
            <a:avLst/>
          </a:prstGeom>
          <a:solidFill>
            <a:schemeClr val="accent1"/>
          </a:solidFill>
          <a:ln w="12700">
            <a:solidFill>
              <a:schemeClr val="accent1"/>
            </a:solidFill>
          </a:ln>
        </p:spPr>
        <p:txBody>
          <a:bodyPr lIns="45719" rIns="45719"/>
          <a:lstStyle/>
          <a:p>
            <a:pPr/>
          </a:p>
        </p:txBody>
      </p:sp>
      <p:pic>
        <p:nvPicPr>
          <p:cNvPr id="51" name="Image 1" descr="Image 1"/>
          <p:cNvPicPr>
            <a:picLocks noChangeAspect="1"/>
          </p:cNvPicPr>
          <p:nvPr/>
        </p:nvPicPr>
        <p:blipFill>
          <a:blip r:embed="rId4">
            <a:extLst/>
          </a:blip>
          <a:stretch>
            <a:fillRect/>
          </a:stretch>
        </p:blipFill>
        <p:spPr>
          <a:xfrm>
            <a:off x="3577132" y="1611172"/>
            <a:ext cx="252375" cy="252375"/>
          </a:xfrm>
          <a:prstGeom prst="rect">
            <a:avLst/>
          </a:prstGeom>
          <a:ln w="12700">
            <a:miter lim="400000"/>
          </a:ln>
        </p:spPr>
      </p:pic>
      <p:sp>
        <p:nvSpPr>
          <p:cNvPr id="52" name="Text 8"/>
          <p:cNvSpPr txBox="1"/>
          <p:nvPr/>
        </p:nvSpPr>
        <p:spPr>
          <a:xfrm>
            <a:off x="4114800" y="1497664"/>
            <a:ext cx="169164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4"/>
                </a:solidFill>
              </a:defRPr>
            </a:lvl1pPr>
          </a:lstStyle>
          <a:p>
            <a:pPr/>
            <a:r>
              <a:t>Online orders</a:t>
            </a:r>
          </a:p>
        </p:txBody>
      </p:sp>
      <p:sp>
        <p:nvSpPr>
          <p:cNvPr id="53" name="Text 9"/>
          <p:cNvSpPr txBox="1"/>
          <p:nvPr/>
        </p:nvSpPr>
        <p:spPr>
          <a:xfrm>
            <a:off x="4114800" y="1798128"/>
            <a:ext cx="169164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5E6F69"/>
                </a:solidFill>
              </a:defRPr>
            </a:lvl1pPr>
          </a:lstStyle>
          <a:p>
            <a:pPr/>
            <a:r>
              <a:t>JSON, web and app</a:t>
            </a:r>
          </a:p>
        </p:txBody>
      </p:sp>
      <p:sp>
        <p:nvSpPr>
          <p:cNvPr id="54" name="Text 10"/>
          <p:cNvSpPr txBox="1"/>
          <p:nvPr/>
        </p:nvSpPr>
        <p:spPr>
          <a:xfrm>
            <a:off x="3429000" y="2240279"/>
            <a:ext cx="2286000" cy="519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800"/>
              </a:spcBef>
              <a:buSzPct val="100000"/>
              <a:buChar char="•"/>
              <a:defRPr sz="1400"/>
            </a:pPr>
            <a:r>
              <a:t>1,128 orders, 1,899 items</a:t>
            </a:r>
          </a:p>
          <a:p>
            <a:pPr marL="342900" indent="-342900">
              <a:spcBef>
                <a:spcPts val="800"/>
              </a:spcBef>
              <a:buSzPct val="100000"/>
              <a:buChar char="•"/>
              <a:defRPr sz="1400"/>
            </a:pPr>
            <a:r>
              <a:t>Items sit inside each order</a:t>
            </a:r>
          </a:p>
        </p:txBody>
      </p:sp>
      <p:sp>
        <p:nvSpPr>
          <p:cNvPr id="55" name="Source card 3"/>
          <p:cNvSpPr/>
          <p:nvPr/>
        </p:nvSpPr>
        <p:spPr>
          <a:xfrm>
            <a:off x="6035040" y="1280160"/>
            <a:ext cx="2651761" cy="2606040"/>
          </a:xfrm>
          <a:prstGeom prst="roundRect">
            <a:avLst>
              <a:gd name="adj" fmla="val 3509"/>
            </a:avLst>
          </a:prstGeom>
          <a:solidFill>
            <a:srgbClr val="EAF2EE"/>
          </a:solidFill>
          <a:ln w="12700">
            <a:solidFill>
              <a:srgbClr val="EAF2EE"/>
            </a:solidFill>
          </a:ln>
        </p:spPr>
        <p:txBody>
          <a:bodyPr lIns="45719" rIns="45719"/>
          <a:lstStyle/>
          <a:p>
            <a:pPr/>
          </a:p>
        </p:txBody>
      </p:sp>
      <p:sp>
        <p:nvSpPr>
          <p:cNvPr id="56" name="Shape 12"/>
          <p:cNvSpPr/>
          <p:nvPr/>
        </p:nvSpPr>
        <p:spPr>
          <a:xfrm>
            <a:off x="6217920" y="1463039"/>
            <a:ext cx="548641" cy="548641"/>
          </a:xfrm>
          <a:prstGeom prst="ellipse">
            <a:avLst/>
          </a:prstGeom>
          <a:solidFill>
            <a:schemeClr val="accent2"/>
          </a:solidFill>
          <a:ln w="12700">
            <a:solidFill>
              <a:schemeClr val="accent2"/>
            </a:solidFill>
          </a:ln>
        </p:spPr>
        <p:txBody>
          <a:bodyPr lIns="45719" rIns="45719"/>
          <a:lstStyle/>
          <a:p>
            <a:pPr/>
          </a:p>
        </p:txBody>
      </p:sp>
      <p:pic>
        <p:nvPicPr>
          <p:cNvPr id="57" name="Image 2" descr="Image 2"/>
          <p:cNvPicPr>
            <a:picLocks noChangeAspect="1"/>
          </p:cNvPicPr>
          <p:nvPr/>
        </p:nvPicPr>
        <p:blipFill>
          <a:blip r:embed="rId5">
            <a:extLst/>
          </a:blip>
          <a:stretch>
            <a:fillRect/>
          </a:stretch>
        </p:blipFill>
        <p:spPr>
          <a:xfrm>
            <a:off x="6366052" y="1611172"/>
            <a:ext cx="252375" cy="252375"/>
          </a:xfrm>
          <a:prstGeom prst="rect">
            <a:avLst/>
          </a:prstGeom>
          <a:ln w="12700">
            <a:miter lim="400000"/>
          </a:ln>
        </p:spPr>
      </p:pic>
      <p:sp>
        <p:nvSpPr>
          <p:cNvPr id="58" name="Text 13"/>
          <p:cNvSpPr txBox="1"/>
          <p:nvPr/>
        </p:nvSpPr>
        <p:spPr>
          <a:xfrm>
            <a:off x="6903719" y="1497664"/>
            <a:ext cx="169164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4"/>
                </a:solidFill>
              </a:defRPr>
            </a:lvl1pPr>
          </a:lstStyle>
          <a:p>
            <a:pPr/>
            <a:r>
              <a:t>Customer list</a:t>
            </a:r>
          </a:p>
        </p:txBody>
      </p:sp>
      <p:sp>
        <p:nvSpPr>
          <p:cNvPr id="59" name="Text 14"/>
          <p:cNvSpPr txBox="1"/>
          <p:nvPr/>
        </p:nvSpPr>
        <p:spPr>
          <a:xfrm>
            <a:off x="6903719" y="1798128"/>
            <a:ext cx="16916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5E6F69"/>
                </a:solidFill>
              </a:defRPr>
            </a:lvl1pPr>
          </a:lstStyle>
          <a:p>
            <a:pPr/>
            <a:r>
              <a:t>Pipe-delimited file</a:t>
            </a:r>
          </a:p>
        </p:txBody>
      </p:sp>
      <p:sp>
        <p:nvSpPr>
          <p:cNvPr id="60" name="Text 15"/>
          <p:cNvSpPr txBox="1"/>
          <p:nvPr/>
        </p:nvSpPr>
        <p:spPr>
          <a:xfrm>
            <a:off x="6217920" y="2240279"/>
            <a:ext cx="2286001" cy="748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800"/>
              </a:spcBef>
              <a:buSzPct val="100000"/>
              <a:buChar char="•"/>
              <a:defRPr sz="1400"/>
            </a:pPr>
            <a:r>
              <a:t>Two snapshots: 479 and 505 rows</a:t>
            </a:r>
          </a:p>
          <a:p>
            <a:pPr marL="342900" indent="-342900">
              <a:spcBef>
                <a:spcPts val="800"/>
              </a:spcBef>
              <a:buSzPct val="100000"/>
              <a:buChar char="•"/>
              <a:defRPr sz="1400"/>
            </a:pPr>
            <a:r>
              <a:t>A weekly extract, not daily</a:t>
            </a:r>
          </a:p>
        </p:txBody>
      </p:sp>
      <p:sp>
        <p:nvSpPr>
          <p:cNvPr id="61" name="Text 16"/>
          <p:cNvSpPr txBox="1"/>
          <p:nvPr/>
        </p:nvSpPr>
        <p:spPr>
          <a:xfrm>
            <a:off x="457200" y="4065840"/>
            <a:ext cx="82296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5E6F69"/>
                </a:solidFill>
              </a:defRPr>
            </a:lvl1pPr>
          </a:lstStyle>
          <a:p>
            <a:pPr/>
            <a:r>
              <a:t>The data is synthetic. We added problems on purpose to test the pipeline.</a:t>
            </a:r>
          </a:p>
        </p:txBody>
      </p:sp>
      <p:sp>
        <p:nvSpPr>
          <p:cNvPr id="62" name="Text 17"/>
          <p:cNvSpPr txBox="1"/>
          <p:nvPr/>
        </p:nvSpPr>
        <p:spPr>
          <a:xfrm>
            <a:off x="457200" y="4428316"/>
            <a:ext cx="822960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4"/>
                </a:solidFill>
              </a:defRPr>
            </a:lvl1pPr>
          </a:lstStyle>
          <a:p>
            <a:pPr/>
            <a:r>
              <a:t>Goal: keep every file, check it, clean it, and let only trusted data reach analysts.</a:t>
            </a:r>
          </a:p>
        </p:txBody>
      </p:sp>
      <p:sp>
        <p:nvSpPr>
          <p:cNvPr id="63" name="Slide Number Placeholder 0"/>
          <p:cNvSpPr txBox="1"/>
          <p:nvPr>
            <p:ph type="sldNum" sz="quarter" idx="4294967295"/>
          </p:nvPr>
        </p:nvSpPr>
        <p:spPr>
          <a:xfrm>
            <a:off x="8609731" y="480060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Text 0"/>
          <p:cNvSpPr txBox="1"/>
          <p:nvPr>
            <p:ph type="title"/>
          </p:nvPr>
        </p:nvSpPr>
        <p:spPr>
          <a:xfrm>
            <a:off x="457199" y="274319"/>
            <a:ext cx="6583682" cy="731522"/>
          </a:xfrm>
          <a:prstGeom prst="rect">
            <a:avLst/>
          </a:prstGeom>
        </p:spPr>
        <p:txBody>
          <a:bodyPr lIns="0" tIns="0" rIns="0" bIns="0" anchor="ctr"/>
          <a:lstStyle/>
          <a:p>
            <a:pPr/>
            <a:r>
              <a:t>The architecture</a:t>
            </a:r>
          </a:p>
        </p:txBody>
      </p:sp>
      <p:sp>
        <p:nvSpPr>
          <p:cNvPr id="68" name="Panel: PART 1  SOURCES AND UPLOAD"/>
          <p:cNvSpPr/>
          <p:nvPr/>
        </p:nvSpPr>
        <p:spPr>
          <a:xfrm>
            <a:off x="502919" y="1097280"/>
            <a:ext cx="3063241" cy="1371601"/>
          </a:xfrm>
          <a:prstGeom prst="roundRect">
            <a:avLst>
              <a:gd name="adj" fmla="val 5333"/>
            </a:avLst>
          </a:prstGeom>
          <a:solidFill>
            <a:srgbClr val="EAF2EE"/>
          </a:solidFill>
          <a:ln w="12700">
            <a:solidFill>
              <a:srgbClr val="EAF2EE"/>
            </a:solidFill>
          </a:ln>
        </p:spPr>
        <p:txBody>
          <a:bodyPr lIns="45719" rIns="45719"/>
          <a:lstStyle/>
          <a:p>
            <a:pPr/>
          </a:p>
        </p:txBody>
      </p:sp>
      <p:sp>
        <p:nvSpPr>
          <p:cNvPr id="69" name="Text 2"/>
          <p:cNvSpPr txBox="1"/>
          <p:nvPr/>
        </p:nvSpPr>
        <p:spPr>
          <a:xfrm>
            <a:off x="612648" y="1203881"/>
            <a:ext cx="284378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5E6F69"/>
                </a:solidFill>
              </a:defRPr>
            </a:lvl1pPr>
          </a:lstStyle>
          <a:p>
            <a:pPr/>
            <a:r>
              <a:t>PART 1  SOURCES AND UPLOAD</a:t>
            </a:r>
          </a:p>
        </p:txBody>
      </p:sp>
      <p:sp>
        <p:nvSpPr>
          <p:cNvPr id="70" name="Panel: PART 2  LANDING TO RAW"/>
          <p:cNvSpPr/>
          <p:nvPr/>
        </p:nvSpPr>
        <p:spPr>
          <a:xfrm>
            <a:off x="3886200" y="1097280"/>
            <a:ext cx="4754880" cy="1371601"/>
          </a:xfrm>
          <a:prstGeom prst="roundRect">
            <a:avLst>
              <a:gd name="adj" fmla="val 5333"/>
            </a:avLst>
          </a:prstGeom>
          <a:solidFill>
            <a:srgbClr val="EAF2EE"/>
          </a:solidFill>
          <a:ln w="12700">
            <a:solidFill>
              <a:srgbClr val="EAF2EE"/>
            </a:solidFill>
          </a:ln>
        </p:spPr>
        <p:txBody>
          <a:bodyPr lIns="45719" rIns="45719"/>
          <a:lstStyle/>
          <a:p>
            <a:pPr/>
          </a:p>
        </p:txBody>
      </p:sp>
      <p:sp>
        <p:nvSpPr>
          <p:cNvPr id="71" name="Text 4"/>
          <p:cNvSpPr txBox="1"/>
          <p:nvPr/>
        </p:nvSpPr>
        <p:spPr>
          <a:xfrm>
            <a:off x="3995928" y="1203881"/>
            <a:ext cx="4535425"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5E6F69"/>
                </a:solidFill>
              </a:defRPr>
            </a:lvl1pPr>
          </a:lstStyle>
          <a:p>
            <a:pPr/>
            <a:r>
              <a:t>PART 2  LANDING TO RAW</a:t>
            </a:r>
          </a:p>
        </p:txBody>
      </p:sp>
      <p:sp>
        <p:nvSpPr>
          <p:cNvPr id="72" name="Panel: PART 3  RAW TO TRUSTED"/>
          <p:cNvSpPr/>
          <p:nvPr/>
        </p:nvSpPr>
        <p:spPr>
          <a:xfrm>
            <a:off x="5577840" y="2743200"/>
            <a:ext cx="3063241" cy="1371600"/>
          </a:xfrm>
          <a:prstGeom prst="roundRect">
            <a:avLst>
              <a:gd name="adj" fmla="val 5333"/>
            </a:avLst>
          </a:prstGeom>
          <a:solidFill>
            <a:srgbClr val="EAF2EE"/>
          </a:solidFill>
          <a:ln w="12700">
            <a:solidFill>
              <a:srgbClr val="EAF2EE"/>
            </a:solidFill>
          </a:ln>
        </p:spPr>
        <p:txBody>
          <a:bodyPr lIns="45719" rIns="45719"/>
          <a:lstStyle/>
          <a:p>
            <a:pPr/>
          </a:p>
        </p:txBody>
      </p:sp>
      <p:sp>
        <p:nvSpPr>
          <p:cNvPr id="73" name="Text 6"/>
          <p:cNvSpPr txBox="1"/>
          <p:nvPr/>
        </p:nvSpPr>
        <p:spPr>
          <a:xfrm>
            <a:off x="5687567" y="2849801"/>
            <a:ext cx="2843785"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5E6F69"/>
                </a:solidFill>
              </a:defRPr>
            </a:lvl1pPr>
          </a:lstStyle>
          <a:p>
            <a:pPr/>
            <a:r>
              <a:t>PART 3  RAW TO TRUSTED</a:t>
            </a:r>
          </a:p>
        </p:txBody>
      </p:sp>
      <p:sp>
        <p:nvSpPr>
          <p:cNvPr id="74" name="Panel: PART 4  QUALITY GATE AND ANALYTICS"/>
          <p:cNvSpPr/>
          <p:nvPr/>
        </p:nvSpPr>
        <p:spPr>
          <a:xfrm>
            <a:off x="502919" y="2743200"/>
            <a:ext cx="4754881" cy="1371600"/>
          </a:xfrm>
          <a:prstGeom prst="roundRect">
            <a:avLst>
              <a:gd name="adj" fmla="val 5333"/>
            </a:avLst>
          </a:prstGeom>
          <a:solidFill>
            <a:srgbClr val="EAF2EE"/>
          </a:solidFill>
          <a:ln w="12700">
            <a:solidFill>
              <a:srgbClr val="EAF2EE"/>
            </a:solidFill>
          </a:ln>
        </p:spPr>
        <p:txBody>
          <a:bodyPr lIns="45719" rIns="45719"/>
          <a:lstStyle/>
          <a:p>
            <a:pPr/>
          </a:p>
        </p:txBody>
      </p:sp>
      <p:sp>
        <p:nvSpPr>
          <p:cNvPr id="75" name="Text 8"/>
          <p:cNvSpPr txBox="1"/>
          <p:nvPr/>
        </p:nvSpPr>
        <p:spPr>
          <a:xfrm>
            <a:off x="612648" y="2849801"/>
            <a:ext cx="4535425"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5E6F69"/>
                </a:solidFill>
              </a:defRPr>
            </a:lvl1pPr>
          </a:lstStyle>
          <a:p>
            <a:pPr/>
            <a:r>
              <a:t>PART 4  QUALITY GATE AND ANALYTICS</a:t>
            </a:r>
          </a:p>
        </p:txBody>
      </p:sp>
      <p:sp>
        <p:nvSpPr>
          <p:cNvPr id="76" name="Node Sources"/>
          <p:cNvSpPr/>
          <p:nvPr/>
        </p:nvSpPr>
        <p:spPr>
          <a:xfrm>
            <a:off x="594359" y="1463039"/>
            <a:ext cx="1188721" cy="777241"/>
          </a:xfrm>
          <a:prstGeom prst="roundRect">
            <a:avLst>
              <a:gd name="adj" fmla="val 9412"/>
            </a:avLst>
          </a:prstGeom>
          <a:solidFill>
            <a:srgbClr val="FFFFFF"/>
          </a:solidFill>
          <a:ln w="15875">
            <a:solidFill>
              <a:schemeClr val="accent4"/>
            </a:solidFill>
          </a:ln>
        </p:spPr>
        <p:txBody>
          <a:bodyPr lIns="45719" rIns="45719"/>
          <a:lstStyle/>
          <a:p>
            <a:pPr/>
          </a:p>
        </p:txBody>
      </p:sp>
      <p:sp>
        <p:nvSpPr>
          <p:cNvPr id="77" name="Label Sources"/>
          <p:cNvSpPr txBox="1"/>
          <p:nvPr/>
        </p:nvSpPr>
        <p:spPr>
          <a:xfrm>
            <a:off x="630936" y="1605324"/>
            <a:ext cx="1115568" cy="4926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chemeClr val="accent4"/>
                </a:solidFill>
              </a:defRPr>
            </a:pPr>
            <a:r>
              <a:t>Sources</a:t>
            </a:r>
          </a:p>
          <a:p>
            <a:pPr algn="ctr">
              <a:defRPr sz="1000">
                <a:solidFill>
                  <a:schemeClr val="accent4"/>
                </a:solidFill>
              </a:defRPr>
            </a:pPr>
            <a:r>
              <a:t>POS, web/app, customers</a:t>
            </a:r>
          </a:p>
        </p:txBody>
      </p:sp>
      <p:sp>
        <p:nvSpPr>
          <p:cNvPr id="78" name="Shape 11"/>
          <p:cNvSpPr/>
          <p:nvPr/>
        </p:nvSpPr>
        <p:spPr>
          <a:xfrm>
            <a:off x="502919" y="1371600"/>
            <a:ext cx="256033" cy="256032"/>
          </a:xfrm>
          <a:prstGeom prst="ellipse">
            <a:avLst/>
          </a:prstGeom>
          <a:solidFill>
            <a:schemeClr val="accent2"/>
          </a:solidFill>
          <a:ln w="12700">
            <a:solidFill>
              <a:srgbClr val="FFFFFF"/>
            </a:solidFill>
          </a:ln>
        </p:spPr>
        <p:txBody>
          <a:bodyPr lIns="45719" rIns="45719"/>
          <a:lstStyle/>
          <a:p>
            <a:pPr/>
          </a:p>
        </p:txBody>
      </p:sp>
      <p:sp>
        <p:nvSpPr>
          <p:cNvPr id="79" name="Text 12"/>
          <p:cNvSpPr txBox="1"/>
          <p:nvPr/>
        </p:nvSpPr>
        <p:spPr>
          <a:xfrm>
            <a:off x="502919" y="1431080"/>
            <a:ext cx="25603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1</a:t>
            </a:r>
          </a:p>
        </p:txBody>
      </p:sp>
      <p:sp>
        <p:nvSpPr>
          <p:cNvPr id="80" name="Node Upload script"/>
          <p:cNvSpPr/>
          <p:nvPr/>
        </p:nvSpPr>
        <p:spPr>
          <a:xfrm>
            <a:off x="2286000" y="1463039"/>
            <a:ext cx="1188720" cy="777241"/>
          </a:xfrm>
          <a:prstGeom prst="roundRect">
            <a:avLst>
              <a:gd name="adj" fmla="val 9412"/>
            </a:avLst>
          </a:prstGeom>
          <a:solidFill>
            <a:srgbClr val="FFFFFF"/>
          </a:solidFill>
          <a:ln w="15875">
            <a:solidFill>
              <a:schemeClr val="accent4"/>
            </a:solidFill>
          </a:ln>
        </p:spPr>
        <p:txBody>
          <a:bodyPr lIns="45719" rIns="45719"/>
          <a:lstStyle/>
          <a:p>
            <a:pPr/>
          </a:p>
        </p:txBody>
      </p:sp>
      <p:sp>
        <p:nvSpPr>
          <p:cNvPr id="81" name="Label Upload script"/>
          <p:cNvSpPr txBox="1"/>
          <p:nvPr/>
        </p:nvSpPr>
        <p:spPr>
          <a:xfrm>
            <a:off x="2322576" y="1687874"/>
            <a:ext cx="1115569" cy="3275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chemeClr val="accent4"/>
                </a:solidFill>
              </a:defRPr>
            </a:pPr>
            <a:r>
              <a:t>Upload script</a:t>
            </a:r>
          </a:p>
          <a:p>
            <a:pPr algn="ctr">
              <a:defRPr sz="1000">
                <a:solidFill>
                  <a:schemeClr val="accent4"/>
                </a:solidFill>
              </a:defRPr>
            </a:pPr>
            <a:r>
              <a:t>pos_upload.py</a:t>
            </a:r>
          </a:p>
        </p:txBody>
      </p:sp>
      <p:sp>
        <p:nvSpPr>
          <p:cNvPr id="82" name="Shape 15"/>
          <p:cNvSpPr/>
          <p:nvPr/>
        </p:nvSpPr>
        <p:spPr>
          <a:xfrm>
            <a:off x="2194560" y="1371600"/>
            <a:ext cx="256033" cy="256032"/>
          </a:xfrm>
          <a:prstGeom prst="ellipse">
            <a:avLst/>
          </a:prstGeom>
          <a:solidFill>
            <a:schemeClr val="accent2"/>
          </a:solidFill>
          <a:ln w="12700">
            <a:solidFill>
              <a:srgbClr val="FFFFFF"/>
            </a:solidFill>
          </a:ln>
        </p:spPr>
        <p:txBody>
          <a:bodyPr lIns="45719" rIns="45719"/>
          <a:lstStyle/>
          <a:p>
            <a:pPr/>
          </a:p>
        </p:txBody>
      </p:sp>
      <p:sp>
        <p:nvSpPr>
          <p:cNvPr id="83" name="Text 16"/>
          <p:cNvSpPr txBox="1"/>
          <p:nvPr/>
        </p:nvSpPr>
        <p:spPr>
          <a:xfrm>
            <a:off x="2194560" y="1431080"/>
            <a:ext cx="25603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2</a:t>
            </a:r>
          </a:p>
        </p:txBody>
      </p:sp>
      <p:sp>
        <p:nvSpPr>
          <p:cNvPr id="84" name="Node S3 Landing"/>
          <p:cNvSpPr/>
          <p:nvPr/>
        </p:nvSpPr>
        <p:spPr>
          <a:xfrm>
            <a:off x="3977640" y="1463039"/>
            <a:ext cx="1188721" cy="777241"/>
          </a:xfrm>
          <a:prstGeom prst="roundRect">
            <a:avLst>
              <a:gd name="adj" fmla="val 9412"/>
            </a:avLst>
          </a:prstGeom>
          <a:solidFill>
            <a:schemeClr val="accent1"/>
          </a:solidFill>
          <a:ln w="15875">
            <a:solidFill>
              <a:schemeClr val="accent1"/>
            </a:solidFill>
          </a:ln>
        </p:spPr>
        <p:txBody>
          <a:bodyPr lIns="45719" rIns="45719"/>
          <a:lstStyle/>
          <a:p>
            <a:pPr/>
          </a:p>
        </p:txBody>
      </p:sp>
      <p:sp>
        <p:nvSpPr>
          <p:cNvPr id="85" name="Label S3 Landing"/>
          <p:cNvSpPr txBox="1"/>
          <p:nvPr/>
        </p:nvSpPr>
        <p:spPr>
          <a:xfrm>
            <a:off x="4014215" y="1687874"/>
            <a:ext cx="1115569" cy="3275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S3 Landing</a:t>
            </a:r>
          </a:p>
          <a:p>
            <a:pPr algn="ctr">
              <a:defRPr sz="1000">
                <a:solidFill>
                  <a:srgbClr val="FFFFFF"/>
                </a:solidFill>
              </a:defRPr>
            </a:pPr>
            <a:r>
              <a:t>everything as sent</a:t>
            </a:r>
          </a:p>
        </p:txBody>
      </p:sp>
      <p:sp>
        <p:nvSpPr>
          <p:cNvPr id="86" name="Shape 19"/>
          <p:cNvSpPr/>
          <p:nvPr/>
        </p:nvSpPr>
        <p:spPr>
          <a:xfrm>
            <a:off x="3886200" y="1371600"/>
            <a:ext cx="256032" cy="256032"/>
          </a:xfrm>
          <a:prstGeom prst="ellipse">
            <a:avLst/>
          </a:prstGeom>
          <a:solidFill>
            <a:schemeClr val="accent2"/>
          </a:solidFill>
          <a:ln w="12700">
            <a:solidFill>
              <a:srgbClr val="FFFFFF"/>
            </a:solidFill>
          </a:ln>
        </p:spPr>
        <p:txBody>
          <a:bodyPr lIns="45719" rIns="45719"/>
          <a:lstStyle/>
          <a:p>
            <a:pPr/>
          </a:p>
        </p:txBody>
      </p:sp>
      <p:sp>
        <p:nvSpPr>
          <p:cNvPr id="87" name="Text 20"/>
          <p:cNvSpPr txBox="1"/>
          <p:nvPr/>
        </p:nvSpPr>
        <p:spPr>
          <a:xfrm>
            <a:off x="3886200" y="1431080"/>
            <a:ext cx="25603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3</a:t>
            </a:r>
          </a:p>
        </p:txBody>
      </p:sp>
      <p:sp>
        <p:nvSpPr>
          <p:cNvPr id="88" name="Node Lambda"/>
          <p:cNvSpPr/>
          <p:nvPr/>
        </p:nvSpPr>
        <p:spPr>
          <a:xfrm>
            <a:off x="5669279" y="1463039"/>
            <a:ext cx="1188721" cy="777241"/>
          </a:xfrm>
          <a:prstGeom prst="roundRect">
            <a:avLst>
              <a:gd name="adj" fmla="val 9412"/>
            </a:avLst>
          </a:prstGeom>
          <a:solidFill>
            <a:schemeClr val="accent4"/>
          </a:solidFill>
          <a:ln w="15875">
            <a:solidFill>
              <a:schemeClr val="accent4"/>
            </a:solidFill>
          </a:ln>
        </p:spPr>
        <p:txBody>
          <a:bodyPr lIns="45719" rIns="45719"/>
          <a:lstStyle/>
          <a:p>
            <a:pPr/>
          </a:p>
        </p:txBody>
      </p:sp>
      <p:sp>
        <p:nvSpPr>
          <p:cNvPr id="89" name="Label Lambda"/>
          <p:cNvSpPr txBox="1"/>
          <p:nvPr/>
        </p:nvSpPr>
        <p:spPr>
          <a:xfrm>
            <a:off x="5705855" y="1687874"/>
            <a:ext cx="1115569" cy="3275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Lambda</a:t>
            </a:r>
          </a:p>
          <a:p>
            <a:pPr algn="ctr">
              <a:defRPr sz="1000">
                <a:solidFill>
                  <a:srgbClr val="FFFFFF"/>
                </a:solidFill>
              </a:defRPr>
            </a:pPr>
            <a:r>
              <a:t>checks each file</a:t>
            </a:r>
          </a:p>
        </p:txBody>
      </p:sp>
      <p:sp>
        <p:nvSpPr>
          <p:cNvPr id="90" name="Shape 23"/>
          <p:cNvSpPr/>
          <p:nvPr/>
        </p:nvSpPr>
        <p:spPr>
          <a:xfrm>
            <a:off x="5577840" y="1371600"/>
            <a:ext cx="256033" cy="256032"/>
          </a:xfrm>
          <a:prstGeom prst="ellipse">
            <a:avLst/>
          </a:prstGeom>
          <a:solidFill>
            <a:schemeClr val="accent2"/>
          </a:solidFill>
          <a:ln w="12700">
            <a:solidFill>
              <a:srgbClr val="FFFFFF"/>
            </a:solidFill>
          </a:ln>
        </p:spPr>
        <p:txBody>
          <a:bodyPr lIns="45719" rIns="45719"/>
          <a:lstStyle/>
          <a:p>
            <a:pPr/>
          </a:p>
        </p:txBody>
      </p:sp>
      <p:sp>
        <p:nvSpPr>
          <p:cNvPr id="91" name="Text 24"/>
          <p:cNvSpPr txBox="1"/>
          <p:nvPr/>
        </p:nvSpPr>
        <p:spPr>
          <a:xfrm>
            <a:off x="5577840" y="1431080"/>
            <a:ext cx="25603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4</a:t>
            </a:r>
          </a:p>
        </p:txBody>
      </p:sp>
      <p:sp>
        <p:nvSpPr>
          <p:cNvPr id="92" name="Node S3 Raw"/>
          <p:cNvSpPr/>
          <p:nvPr/>
        </p:nvSpPr>
        <p:spPr>
          <a:xfrm>
            <a:off x="7360919" y="1463039"/>
            <a:ext cx="1188721" cy="777241"/>
          </a:xfrm>
          <a:prstGeom prst="roundRect">
            <a:avLst>
              <a:gd name="adj" fmla="val 9412"/>
            </a:avLst>
          </a:prstGeom>
          <a:solidFill>
            <a:schemeClr val="accent1"/>
          </a:solidFill>
          <a:ln w="15875">
            <a:solidFill>
              <a:schemeClr val="accent1"/>
            </a:solidFill>
          </a:ln>
        </p:spPr>
        <p:txBody>
          <a:bodyPr lIns="45719" rIns="45719"/>
          <a:lstStyle/>
          <a:p>
            <a:pPr/>
          </a:p>
        </p:txBody>
      </p:sp>
      <p:sp>
        <p:nvSpPr>
          <p:cNvPr id="93" name="Label S3 Raw"/>
          <p:cNvSpPr txBox="1"/>
          <p:nvPr/>
        </p:nvSpPr>
        <p:spPr>
          <a:xfrm>
            <a:off x="7397495" y="1605324"/>
            <a:ext cx="1115569" cy="4926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S3 Raw</a:t>
            </a:r>
          </a:p>
          <a:p>
            <a:pPr algn="ctr">
              <a:defRPr sz="1000">
                <a:solidFill>
                  <a:srgbClr val="FFFFFF"/>
                </a:solidFill>
              </a:defRPr>
            </a:pPr>
            <a:r>
              <a:t>passed files; bad ones to quarantine/</a:t>
            </a:r>
          </a:p>
        </p:txBody>
      </p:sp>
      <p:sp>
        <p:nvSpPr>
          <p:cNvPr id="94" name="Shape 27"/>
          <p:cNvSpPr/>
          <p:nvPr/>
        </p:nvSpPr>
        <p:spPr>
          <a:xfrm>
            <a:off x="7269480" y="1371600"/>
            <a:ext cx="256033" cy="256032"/>
          </a:xfrm>
          <a:prstGeom prst="ellipse">
            <a:avLst/>
          </a:prstGeom>
          <a:solidFill>
            <a:schemeClr val="accent2"/>
          </a:solidFill>
          <a:ln w="12700">
            <a:solidFill>
              <a:srgbClr val="FFFFFF"/>
            </a:solidFill>
          </a:ln>
        </p:spPr>
        <p:txBody>
          <a:bodyPr lIns="45719" rIns="45719"/>
          <a:lstStyle/>
          <a:p>
            <a:pPr/>
          </a:p>
        </p:txBody>
      </p:sp>
      <p:sp>
        <p:nvSpPr>
          <p:cNvPr id="95" name="Text 28"/>
          <p:cNvSpPr txBox="1"/>
          <p:nvPr/>
        </p:nvSpPr>
        <p:spPr>
          <a:xfrm>
            <a:off x="7269480" y="1431080"/>
            <a:ext cx="25603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5</a:t>
            </a:r>
          </a:p>
        </p:txBody>
      </p:sp>
      <p:sp>
        <p:nvSpPr>
          <p:cNvPr id="96" name="Node Glue ETL jobs"/>
          <p:cNvSpPr/>
          <p:nvPr/>
        </p:nvSpPr>
        <p:spPr>
          <a:xfrm>
            <a:off x="7360919" y="3108960"/>
            <a:ext cx="1188721" cy="777241"/>
          </a:xfrm>
          <a:prstGeom prst="roundRect">
            <a:avLst>
              <a:gd name="adj" fmla="val 9412"/>
            </a:avLst>
          </a:prstGeom>
          <a:solidFill>
            <a:schemeClr val="accent4"/>
          </a:solidFill>
          <a:ln w="15875">
            <a:solidFill>
              <a:schemeClr val="accent4"/>
            </a:solidFill>
          </a:ln>
        </p:spPr>
        <p:txBody>
          <a:bodyPr lIns="45719" rIns="45719"/>
          <a:lstStyle/>
          <a:p>
            <a:pPr/>
          </a:p>
        </p:txBody>
      </p:sp>
      <p:sp>
        <p:nvSpPr>
          <p:cNvPr id="97" name="Label Glue ETL jobs"/>
          <p:cNvSpPr txBox="1"/>
          <p:nvPr/>
        </p:nvSpPr>
        <p:spPr>
          <a:xfrm>
            <a:off x="7397495" y="3333794"/>
            <a:ext cx="1115569" cy="3275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Glue ETL jobs</a:t>
            </a:r>
          </a:p>
          <a:p>
            <a:pPr algn="ctr">
              <a:defRPr sz="1000">
                <a:solidFill>
                  <a:srgbClr val="FFFFFF"/>
                </a:solidFill>
              </a:defRPr>
            </a:pPr>
            <a:r>
              <a:t>convert to Parquet</a:t>
            </a:r>
          </a:p>
        </p:txBody>
      </p:sp>
      <p:sp>
        <p:nvSpPr>
          <p:cNvPr id="98" name="Shape 31"/>
          <p:cNvSpPr/>
          <p:nvPr/>
        </p:nvSpPr>
        <p:spPr>
          <a:xfrm>
            <a:off x="7269480" y="3017520"/>
            <a:ext cx="256033" cy="256033"/>
          </a:xfrm>
          <a:prstGeom prst="ellipse">
            <a:avLst/>
          </a:prstGeom>
          <a:solidFill>
            <a:schemeClr val="accent2"/>
          </a:solidFill>
          <a:ln w="12700">
            <a:solidFill>
              <a:srgbClr val="FFFFFF"/>
            </a:solidFill>
          </a:ln>
        </p:spPr>
        <p:txBody>
          <a:bodyPr lIns="45719" rIns="45719"/>
          <a:lstStyle/>
          <a:p>
            <a:pPr/>
          </a:p>
        </p:txBody>
      </p:sp>
      <p:sp>
        <p:nvSpPr>
          <p:cNvPr id="99" name="Text 32"/>
          <p:cNvSpPr txBox="1"/>
          <p:nvPr/>
        </p:nvSpPr>
        <p:spPr>
          <a:xfrm>
            <a:off x="7269480" y="3077000"/>
            <a:ext cx="25603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6</a:t>
            </a:r>
          </a:p>
        </p:txBody>
      </p:sp>
      <p:sp>
        <p:nvSpPr>
          <p:cNvPr id="100" name="Node S3 Trusted"/>
          <p:cNvSpPr/>
          <p:nvPr/>
        </p:nvSpPr>
        <p:spPr>
          <a:xfrm>
            <a:off x="5669279" y="3108960"/>
            <a:ext cx="1188721" cy="777241"/>
          </a:xfrm>
          <a:prstGeom prst="roundRect">
            <a:avLst>
              <a:gd name="adj" fmla="val 9412"/>
            </a:avLst>
          </a:prstGeom>
          <a:solidFill>
            <a:schemeClr val="accent1"/>
          </a:solidFill>
          <a:ln w="15875">
            <a:solidFill>
              <a:schemeClr val="accent1"/>
            </a:solidFill>
          </a:ln>
        </p:spPr>
        <p:txBody>
          <a:bodyPr lIns="45719" rIns="45719"/>
          <a:lstStyle/>
          <a:p>
            <a:pPr/>
          </a:p>
        </p:txBody>
      </p:sp>
      <p:sp>
        <p:nvSpPr>
          <p:cNvPr id="101" name="Label S3 Trusted"/>
          <p:cNvSpPr txBox="1"/>
          <p:nvPr/>
        </p:nvSpPr>
        <p:spPr>
          <a:xfrm>
            <a:off x="5705855" y="3251244"/>
            <a:ext cx="1115569" cy="4926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S3 Trusted</a:t>
            </a:r>
          </a:p>
          <a:p>
            <a:pPr algn="ctr">
              <a:defRPr sz="1000">
                <a:solidFill>
                  <a:srgbClr val="FFFFFF"/>
                </a:solidFill>
              </a:defRPr>
            </a:pPr>
            <a:r>
              <a:t>typed, shared schema</a:t>
            </a:r>
          </a:p>
        </p:txBody>
      </p:sp>
      <p:sp>
        <p:nvSpPr>
          <p:cNvPr id="102" name="Shape 35"/>
          <p:cNvSpPr/>
          <p:nvPr/>
        </p:nvSpPr>
        <p:spPr>
          <a:xfrm>
            <a:off x="5577840" y="3017520"/>
            <a:ext cx="256033" cy="256033"/>
          </a:xfrm>
          <a:prstGeom prst="ellipse">
            <a:avLst/>
          </a:prstGeom>
          <a:solidFill>
            <a:schemeClr val="accent2"/>
          </a:solidFill>
          <a:ln w="12700">
            <a:solidFill>
              <a:srgbClr val="FFFFFF"/>
            </a:solidFill>
          </a:ln>
        </p:spPr>
        <p:txBody>
          <a:bodyPr lIns="45719" rIns="45719"/>
          <a:lstStyle/>
          <a:p>
            <a:pPr/>
          </a:p>
        </p:txBody>
      </p:sp>
      <p:sp>
        <p:nvSpPr>
          <p:cNvPr id="103" name="Text 36"/>
          <p:cNvSpPr txBox="1"/>
          <p:nvPr/>
        </p:nvSpPr>
        <p:spPr>
          <a:xfrm>
            <a:off x="5577840" y="3077000"/>
            <a:ext cx="25603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7</a:t>
            </a:r>
          </a:p>
        </p:txBody>
      </p:sp>
      <p:sp>
        <p:nvSpPr>
          <p:cNvPr id="104" name="Node Quality gate"/>
          <p:cNvSpPr/>
          <p:nvPr/>
        </p:nvSpPr>
        <p:spPr>
          <a:xfrm>
            <a:off x="3977640" y="3108960"/>
            <a:ext cx="1188721" cy="777241"/>
          </a:xfrm>
          <a:prstGeom prst="roundRect">
            <a:avLst>
              <a:gd name="adj" fmla="val 9412"/>
            </a:avLst>
          </a:prstGeom>
          <a:solidFill>
            <a:schemeClr val="accent4"/>
          </a:solidFill>
          <a:ln w="15875">
            <a:solidFill>
              <a:schemeClr val="accent4"/>
            </a:solidFill>
          </a:ln>
        </p:spPr>
        <p:txBody>
          <a:bodyPr lIns="45719" rIns="45719"/>
          <a:lstStyle/>
          <a:p>
            <a:pPr/>
          </a:p>
        </p:txBody>
      </p:sp>
      <p:sp>
        <p:nvSpPr>
          <p:cNvPr id="105" name="Label Quality gate"/>
          <p:cNvSpPr txBox="1"/>
          <p:nvPr/>
        </p:nvSpPr>
        <p:spPr>
          <a:xfrm>
            <a:off x="4014215" y="3333794"/>
            <a:ext cx="1115569" cy="3275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Quality gate</a:t>
            </a:r>
          </a:p>
          <a:p>
            <a:pPr algn="ctr">
              <a:defRPr sz="1000">
                <a:solidFill>
                  <a:srgbClr val="FFFFFF"/>
                </a:solidFill>
              </a:defRPr>
            </a:pPr>
            <a:r>
              <a:t>5 rules, Athena SQL</a:t>
            </a:r>
          </a:p>
        </p:txBody>
      </p:sp>
      <p:sp>
        <p:nvSpPr>
          <p:cNvPr id="106" name="Shape 39"/>
          <p:cNvSpPr/>
          <p:nvPr/>
        </p:nvSpPr>
        <p:spPr>
          <a:xfrm>
            <a:off x="3886200" y="3017520"/>
            <a:ext cx="256032" cy="256033"/>
          </a:xfrm>
          <a:prstGeom prst="ellipse">
            <a:avLst/>
          </a:prstGeom>
          <a:solidFill>
            <a:schemeClr val="accent2"/>
          </a:solidFill>
          <a:ln w="12700">
            <a:solidFill>
              <a:srgbClr val="FFFFFF"/>
            </a:solidFill>
          </a:ln>
        </p:spPr>
        <p:txBody>
          <a:bodyPr lIns="45719" rIns="45719"/>
          <a:lstStyle/>
          <a:p>
            <a:pPr/>
          </a:p>
        </p:txBody>
      </p:sp>
      <p:sp>
        <p:nvSpPr>
          <p:cNvPr id="107" name="Text 40"/>
          <p:cNvSpPr txBox="1"/>
          <p:nvPr/>
        </p:nvSpPr>
        <p:spPr>
          <a:xfrm>
            <a:off x="3886200" y="3077000"/>
            <a:ext cx="25603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8</a:t>
            </a:r>
          </a:p>
        </p:txBody>
      </p:sp>
      <p:sp>
        <p:nvSpPr>
          <p:cNvPr id="108" name="Node S3 Curated"/>
          <p:cNvSpPr/>
          <p:nvPr/>
        </p:nvSpPr>
        <p:spPr>
          <a:xfrm>
            <a:off x="2286000" y="3108960"/>
            <a:ext cx="1188720" cy="777241"/>
          </a:xfrm>
          <a:prstGeom prst="roundRect">
            <a:avLst>
              <a:gd name="adj" fmla="val 9412"/>
            </a:avLst>
          </a:prstGeom>
          <a:solidFill>
            <a:schemeClr val="accent1"/>
          </a:solidFill>
          <a:ln w="15875">
            <a:solidFill>
              <a:schemeClr val="accent1"/>
            </a:solidFill>
          </a:ln>
        </p:spPr>
        <p:txBody>
          <a:bodyPr lIns="45719" rIns="45719"/>
          <a:lstStyle/>
          <a:p>
            <a:pPr/>
          </a:p>
        </p:txBody>
      </p:sp>
      <p:sp>
        <p:nvSpPr>
          <p:cNvPr id="109" name="Label S3 Curated"/>
          <p:cNvSpPr txBox="1"/>
          <p:nvPr/>
        </p:nvSpPr>
        <p:spPr>
          <a:xfrm>
            <a:off x="2322576" y="3333794"/>
            <a:ext cx="1115569" cy="3275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S3 Curated</a:t>
            </a:r>
          </a:p>
          <a:p>
            <a:pPr algn="ctr">
              <a:defRPr sz="1000">
                <a:solidFill>
                  <a:srgbClr val="FFFFFF"/>
                </a:solidFill>
              </a:defRPr>
            </a:pPr>
            <a:r>
              <a:t>rows that passed</a:t>
            </a:r>
          </a:p>
        </p:txBody>
      </p:sp>
      <p:sp>
        <p:nvSpPr>
          <p:cNvPr id="110" name="Shape 43"/>
          <p:cNvSpPr/>
          <p:nvPr/>
        </p:nvSpPr>
        <p:spPr>
          <a:xfrm>
            <a:off x="2194560" y="3017520"/>
            <a:ext cx="256033" cy="256033"/>
          </a:xfrm>
          <a:prstGeom prst="ellipse">
            <a:avLst/>
          </a:prstGeom>
          <a:solidFill>
            <a:schemeClr val="accent2"/>
          </a:solidFill>
          <a:ln w="12700">
            <a:solidFill>
              <a:srgbClr val="FFFFFF"/>
            </a:solidFill>
          </a:ln>
        </p:spPr>
        <p:txBody>
          <a:bodyPr lIns="45719" rIns="45719"/>
          <a:lstStyle/>
          <a:p>
            <a:pPr/>
          </a:p>
        </p:txBody>
      </p:sp>
      <p:sp>
        <p:nvSpPr>
          <p:cNvPr id="111" name="Text 44"/>
          <p:cNvSpPr txBox="1"/>
          <p:nvPr/>
        </p:nvSpPr>
        <p:spPr>
          <a:xfrm>
            <a:off x="2194560" y="3077000"/>
            <a:ext cx="25603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9</a:t>
            </a:r>
          </a:p>
        </p:txBody>
      </p:sp>
      <p:sp>
        <p:nvSpPr>
          <p:cNvPr id="112" name="Node Athena + dashboard"/>
          <p:cNvSpPr/>
          <p:nvPr/>
        </p:nvSpPr>
        <p:spPr>
          <a:xfrm>
            <a:off x="594359" y="3108960"/>
            <a:ext cx="1188721" cy="777241"/>
          </a:xfrm>
          <a:prstGeom prst="roundRect">
            <a:avLst>
              <a:gd name="adj" fmla="val 9412"/>
            </a:avLst>
          </a:prstGeom>
          <a:solidFill>
            <a:schemeClr val="accent4"/>
          </a:solidFill>
          <a:ln w="15875">
            <a:solidFill>
              <a:schemeClr val="accent4"/>
            </a:solidFill>
          </a:ln>
        </p:spPr>
        <p:txBody>
          <a:bodyPr lIns="45719" rIns="45719"/>
          <a:lstStyle/>
          <a:p>
            <a:pPr/>
          </a:p>
        </p:txBody>
      </p:sp>
      <p:sp>
        <p:nvSpPr>
          <p:cNvPr id="113" name="Label Athena + dashboard"/>
          <p:cNvSpPr txBox="1"/>
          <p:nvPr/>
        </p:nvSpPr>
        <p:spPr>
          <a:xfrm>
            <a:off x="630936" y="3238544"/>
            <a:ext cx="1115568" cy="518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FFFFFF"/>
                </a:solidFill>
              </a:defRPr>
            </a:pPr>
            <a:r>
              <a:t>Athena + dashboard</a:t>
            </a:r>
          </a:p>
          <a:p>
            <a:pPr algn="ctr">
              <a:defRPr sz="1000">
                <a:solidFill>
                  <a:srgbClr val="FFFFFF"/>
                </a:solidFill>
              </a:defRPr>
            </a:pPr>
            <a:r>
              <a:t>analysts read here</a:t>
            </a:r>
          </a:p>
        </p:txBody>
      </p:sp>
      <p:sp>
        <p:nvSpPr>
          <p:cNvPr id="114" name="Shape 47"/>
          <p:cNvSpPr/>
          <p:nvPr/>
        </p:nvSpPr>
        <p:spPr>
          <a:xfrm>
            <a:off x="502919" y="3017520"/>
            <a:ext cx="256033" cy="256033"/>
          </a:xfrm>
          <a:prstGeom prst="ellipse">
            <a:avLst/>
          </a:prstGeom>
          <a:solidFill>
            <a:schemeClr val="accent2"/>
          </a:solidFill>
          <a:ln w="12700">
            <a:solidFill>
              <a:srgbClr val="FFFFFF"/>
            </a:solidFill>
          </a:ln>
        </p:spPr>
        <p:txBody>
          <a:bodyPr lIns="45719" rIns="45719"/>
          <a:lstStyle/>
          <a:p>
            <a:pPr/>
          </a:p>
        </p:txBody>
      </p:sp>
      <p:sp>
        <p:nvSpPr>
          <p:cNvPr id="115" name="Text 48"/>
          <p:cNvSpPr txBox="1"/>
          <p:nvPr/>
        </p:nvSpPr>
        <p:spPr>
          <a:xfrm>
            <a:off x="502919" y="3077000"/>
            <a:ext cx="25603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10</a:t>
            </a:r>
          </a:p>
        </p:txBody>
      </p:sp>
      <p:sp>
        <p:nvSpPr>
          <p:cNvPr id="116" name="Shape 49"/>
          <p:cNvSpPr/>
          <p:nvPr/>
        </p:nvSpPr>
        <p:spPr>
          <a:xfrm>
            <a:off x="1810511" y="1851660"/>
            <a:ext cx="448057" cy="1"/>
          </a:xfrm>
          <a:prstGeom prst="line">
            <a:avLst/>
          </a:prstGeom>
          <a:ln w="22225">
            <a:solidFill>
              <a:srgbClr val="5E6F69"/>
            </a:solidFill>
            <a:tailEnd type="triangle"/>
          </a:ln>
        </p:spPr>
        <p:txBody>
          <a:bodyPr lIns="45719" rIns="45719"/>
          <a:lstStyle/>
          <a:p>
            <a:pPr/>
          </a:p>
        </p:txBody>
      </p:sp>
      <p:sp>
        <p:nvSpPr>
          <p:cNvPr id="117" name="Shape 50"/>
          <p:cNvSpPr/>
          <p:nvPr/>
        </p:nvSpPr>
        <p:spPr>
          <a:xfrm>
            <a:off x="3502152" y="1851660"/>
            <a:ext cx="448057" cy="1"/>
          </a:xfrm>
          <a:prstGeom prst="line">
            <a:avLst/>
          </a:prstGeom>
          <a:ln w="22225">
            <a:solidFill>
              <a:srgbClr val="5E6F69"/>
            </a:solidFill>
            <a:tailEnd type="triangle"/>
          </a:ln>
        </p:spPr>
        <p:txBody>
          <a:bodyPr lIns="45719" rIns="45719"/>
          <a:lstStyle/>
          <a:p>
            <a:pPr/>
          </a:p>
        </p:txBody>
      </p:sp>
      <p:sp>
        <p:nvSpPr>
          <p:cNvPr id="118" name="Shape 51"/>
          <p:cNvSpPr/>
          <p:nvPr/>
        </p:nvSpPr>
        <p:spPr>
          <a:xfrm>
            <a:off x="5193791" y="1851660"/>
            <a:ext cx="448057" cy="1"/>
          </a:xfrm>
          <a:prstGeom prst="line">
            <a:avLst/>
          </a:prstGeom>
          <a:ln w="22225">
            <a:solidFill>
              <a:srgbClr val="5E6F69"/>
            </a:solidFill>
            <a:tailEnd type="triangle"/>
          </a:ln>
        </p:spPr>
        <p:txBody>
          <a:bodyPr lIns="45719" rIns="45719"/>
          <a:lstStyle/>
          <a:p>
            <a:pPr/>
          </a:p>
        </p:txBody>
      </p:sp>
      <p:sp>
        <p:nvSpPr>
          <p:cNvPr id="119" name="Shape 52"/>
          <p:cNvSpPr/>
          <p:nvPr/>
        </p:nvSpPr>
        <p:spPr>
          <a:xfrm>
            <a:off x="6885431" y="1851660"/>
            <a:ext cx="448057" cy="1"/>
          </a:xfrm>
          <a:prstGeom prst="line">
            <a:avLst/>
          </a:prstGeom>
          <a:ln w="22225">
            <a:solidFill>
              <a:srgbClr val="5E6F69"/>
            </a:solidFill>
            <a:tailEnd type="triangle"/>
          </a:ln>
        </p:spPr>
        <p:txBody>
          <a:bodyPr lIns="45719" rIns="45719"/>
          <a:lstStyle/>
          <a:p>
            <a:pPr/>
          </a:p>
        </p:txBody>
      </p:sp>
      <p:sp>
        <p:nvSpPr>
          <p:cNvPr id="120" name="Shape 53"/>
          <p:cNvSpPr/>
          <p:nvPr/>
        </p:nvSpPr>
        <p:spPr>
          <a:xfrm>
            <a:off x="7955280" y="2267711"/>
            <a:ext cx="1" cy="813817"/>
          </a:xfrm>
          <a:prstGeom prst="line">
            <a:avLst/>
          </a:prstGeom>
          <a:ln w="22225">
            <a:solidFill>
              <a:srgbClr val="5E6F69"/>
            </a:solidFill>
            <a:tailEnd type="triangle"/>
          </a:ln>
        </p:spPr>
        <p:txBody>
          <a:bodyPr lIns="45719" rIns="45719"/>
          <a:lstStyle/>
          <a:p>
            <a:pPr/>
          </a:p>
        </p:txBody>
      </p:sp>
      <p:sp>
        <p:nvSpPr>
          <p:cNvPr id="121" name="Shape 54"/>
          <p:cNvSpPr/>
          <p:nvPr/>
        </p:nvSpPr>
        <p:spPr>
          <a:xfrm flipH="1">
            <a:off x="6885431" y="3497579"/>
            <a:ext cx="448057" cy="1"/>
          </a:xfrm>
          <a:prstGeom prst="line">
            <a:avLst/>
          </a:prstGeom>
          <a:ln w="22225">
            <a:solidFill>
              <a:srgbClr val="5E6F69"/>
            </a:solidFill>
            <a:tailEnd type="triangle"/>
          </a:ln>
        </p:spPr>
        <p:txBody>
          <a:bodyPr lIns="45719" rIns="45719"/>
          <a:lstStyle/>
          <a:p>
            <a:pPr/>
          </a:p>
        </p:txBody>
      </p:sp>
      <p:sp>
        <p:nvSpPr>
          <p:cNvPr id="122" name="Shape 55"/>
          <p:cNvSpPr/>
          <p:nvPr/>
        </p:nvSpPr>
        <p:spPr>
          <a:xfrm flipH="1">
            <a:off x="5193791" y="3497579"/>
            <a:ext cx="448057" cy="1"/>
          </a:xfrm>
          <a:prstGeom prst="line">
            <a:avLst/>
          </a:prstGeom>
          <a:ln w="22225">
            <a:solidFill>
              <a:srgbClr val="5E6F69"/>
            </a:solidFill>
            <a:tailEnd type="triangle"/>
          </a:ln>
        </p:spPr>
        <p:txBody>
          <a:bodyPr lIns="45719" rIns="45719"/>
          <a:lstStyle/>
          <a:p>
            <a:pPr/>
          </a:p>
        </p:txBody>
      </p:sp>
      <p:sp>
        <p:nvSpPr>
          <p:cNvPr id="123" name="Shape 56"/>
          <p:cNvSpPr/>
          <p:nvPr/>
        </p:nvSpPr>
        <p:spPr>
          <a:xfrm flipH="1">
            <a:off x="3502152" y="3497579"/>
            <a:ext cx="448057" cy="1"/>
          </a:xfrm>
          <a:prstGeom prst="line">
            <a:avLst/>
          </a:prstGeom>
          <a:ln w="22225">
            <a:solidFill>
              <a:srgbClr val="5E6F69"/>
            </a:solidFill>
            <a:tailEnd type="triangle"/>
          </a:ln>
        </p:spPr>
        <p:txBody>
          <a:bodyPr lIns="45719" rIns="45719"/>
          <a:lstStyle/>
          <a:p>
            <a:pPr/>
          </a:p>
        </p:txBody>
      </p:sp>
      <p:sp>
        <p:nvSpPr>
          <p:cNvPr id="124" name="Shape 57"/>
          <p:cNvSpPr/>
          <p:nvPr/>
        </p:nvSpPr>
        <p:spPr>
          <a:xfrm flipH="1">
            <a:off x="1810511" y="3497579"/>
            <a:ext cx="448057" cy="1"/>
          </a:xfrm>
          <a:prstGeom prst="line">
            <a:avLst/>
          </a:prstGeom>
          <a:ln w="22225">
            <a:solidFill>
              <a:srgbClr val="5E6F69"/>
            </a:solidFill>
            <a:tailEnd type="triangle"/>
          </a:ln>
        </p:spPr>
        <p:txBody>
          <a:bodyPr lIns="45719" rIns="45719"/>
          <a:lstStyle/>
          <a:p>
            <a:pPr/>
          </a:p>
        </p:txBody>
      </p:sp>
      <p:sp>
        <p:nvSpPr>
          <p:cNvPr id="125" name="Chip"/>
          <p:cNvSpPr/>
          <p:nvPr/>
        </p:nvSpPr>
        <p:spPr>
          <a:xfrm>
            <a:off x="502919" y="4315967"/>
            <a:ext cx="2697481" cy="502921"/>
          </a:xfrm>
          <a:prstGeom prst="roundRect">
            <a:avLst>
              <a:gd name="adj" fmla="val 14545"/>
            </a:avLst>
          </a:prstGeom>
          <a:solidFill>
            <a:srgbClr val="FFFFFF"/>
          </a:solidFill>
          <a:ln w="15875">
            <a:solidFill>
              <a:srgbClr val="5E6F69"/>
            </a:solidFill>
          </a:ln>
        </p:spPr>
        <p:txBody>
          <a:bodyPr lIns="45719" rIns="45719"/>
          <a:lstStyle/>
          <a:p>
            <a:pPr/>
          </a:p>
        </p:txBody>
      </p:sp>
      <p:sp>
        <p:nvSpPr>
          <p:cNvPr id="126" name="Text 59"/>
          <p:cNvSpPr txBox="1"/>
          <p:nvPr/>
        </p:nvSpPr>
        <p:spPr>
          <a:xfrm>
            <a:off x="576071" y="4417743"/>
            <a:ext cx="2551178"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lvl1pPr>
          </a:lstStyle>
          <a:p>
            <a:pPr/>
            <a:r>
              <a:t>Glue Data Catalog describes raw and trusted (labels only, no data)</a:t>
            </a:r>
          </a:p>
        </p:txBody>
      </p:sp>
      <p:sp>
        <p:nvSpPr>
          <p:cNvPr id="127" name="Chip"/>
          <p:cNvSpPr/>
          <p:nvPr/>
        </p:nvSpPr>
        <p:spPr>
          <a:xfrm>
            <a:off x="3337559" y="4315967"/>
            <a:ext cx="2697481" cy="502921"/>
          </a:xfrm>
          <a:prstGeom prst="roundRect">
            <a:avLst>
              <a:gd name="adj" fmla="val 14545"/>
            </a:avLst>
          </a:prstGeom>
          <a:solidFill>
            <a:srgbClr val="FFFFFF"/>
          </a:solidFill>
          <a:ln w="15875">
            <a:solidFill>
              <a:srgbClr val="5E6F69"/>
            </a:solidFill>
          </a:ln>
        </p:spPr>
        <p:txBody>
          <a:bodyPr lIns="45719" rIns="45719"/>
          <a:lstStyle/>
          <a:p>
            <a:pPr/>
          </a:p>
        </p:txBody>
      </p:sp>
      <p:sp>
        <p:nvSpPr>
          <p:cNvPr id="128" name="Text 61"/>
          <p:cNvSpPr txBox="1"/>
          <p:nvPr/>
        </p:nvSpPr>
        <p:spPr>
          <a:xfrm>
            <a:off x="3410711" y="4500293"/>
            <a:ext cx="2551178"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lvl1pPr>
          </a:lstStyle>
          <a:p>
            <a:pPr/>
            <a:r>
              <a:t>CloudFormation: three stacks build all of it</a:t>
            </a:r>
          </a:p>
        </p:txBody>
      </p:sp>
      <p:sp>
        <p:nvSpPr>
          <p:cNvPr id="129" name="Chip"/>
          <p:cNvSpPr/>
          <p:nvPr/>
        </p:nvSpPr>
        <p:spPr>
          <a:xfrm>
            <a:off x="6172200" y="4315967"/>
            <a:ext cx="2468880" cy="502921"/>
          </a:xfrm>
          <a:prstGeom prst="roundRect">
            <a:avLst>
              <a:gd name="adj" fmla="val 14545"/>
            </a:avLst>
          </a:prstGeom>
          <a:solidFill>
            <a:srgbClr val="FFFFFF"/>
          </a:solidFill>
          <a:ln w="15875">
            <a:solidFill>
              <a:schemeClr val="accent2"/>
            </a:solidFill>
            <a:prstDash val="dash"/>
          </a:ln>
        </p:spPr>
        <p:txBody>
          <a:bodyPr lIns="45719" rIns="45719"/>
          <a:lstStyle/>
          <a:p>
            <a:pPr/>
          </a:p>
        </p:txBody>
      </p:sp>
      <p:sp>
        <p:nvSpPr>
          <p:cNvPr id="130" name="Text 63"/>
          <p:cNvSpPr txBox="1"/>
          <p:nvPr/>
        </p:nvSpPr>
        <p:spPr>
          <a:xfrm>
            <a:off x="6245352" y="4417743"/>
            <a:ext cx="2322577"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lvl1pPr>
          </a:lstStyle>
          <a:p>
            <a:pPr/>
            <a:r>
              <a:t>Lake Formation: planned, not built (Learner Lab blocks it)</a:t>
            </a:r>
          </a:p>
        </p:txBody>
      </p:sp>
      <p:sp>
        <p:nvSpPr>
          <p:cNvPr id="131" name="Slide Number Placeholder 0"/>
          <p:cNvSpPr txBox="1"/>
          <p:nvPr>
            <p:ph type="sldNum" sz="quarter" idx="4294967295"/>
          </p:nvPr>
        </p:nvSpPr>
        <p:spPr>
          <a:xfrm>
            <a:off x="8609731" y="480060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Text 0"/>
          <p:cNvSpPr txBox="1"/>
          <p:nvPr>
            <p:ph type="title"/>
          </p:nvPr>
        </p:nvSpPr>
        <p:spPr>
          <a:xfrm>
            <a:off x="457199" y="274319"/>
            <a:ext cx="6583682" cy="731522"/>
          </a:xfrm>
          <a:prstGeom prst="rect">
            <a:avLst/>
          </a:prstGeom>
        </p:spPr>
        <p:txBody>
          <a:bodyPr lIns="0" tIns="0" rIns="0" bIns="0" anchor="ctr"/>
          <a:lstStyle/>
          <a:p>
            <a:pPr/>
            <a:r>
              <a:t>Getting the data in</a:t>
            </a:r>
          </a:p>
        </p:txBody>
      </p:sp>
      <p:sp>
        <p:nvSpPr>
          <p:cNvPr id="136" name="Shape 1"/>
          <p:cNvSpPr/>
          <p:nvPr/>
        </p:nvSpPr>
        <p:spPr>
          <a:xfrm>
            <a:off x="457200" y="1280160"/>
            <a:ext cx="594360" cy="594361"/>
          </a:xfrm>
          <a:prstGeom prst="ellipse">
            <a:avLst/>
          </a:prstGeom>
          <a:solidFill>
            <a:schemeClr val="accent4"/>
          </a:solidFill>
          <a:ln w="12700">
            <a:solidFill>
              <a:schemeClr val="accent4"/>
            </a:solidFill>
          </a:ln>
        </p:spPr>
        <p:txBody>
          <a:bodyPr lIns="45719" rIns="45719"/>
          <a:lstStyle/>
          <a:p>
            <a:pPr/>
          </a:p>
        </p:txBody>
      </p:sp>
      <p:pic>
        <p:nvPicPr>
          <p:cNvPr id="137" name="Image 0" descr="Image 0"/>
          <p:cNvPicPr>
            <a:picLocks noChangeAspect="1"/>
          </p:cNvPicPr>
          <p:nvPr/>
        </p:nvPicPr>
        <p:blipFill>
          <a:blip r:embed="rId3">
            <a:extLst/>
          </a:blip>
          <a:stretch>
            <a:fillRect/>
          </a:stretch>
        </p:blipFill>
        <p:spPr>
          <a:xfrm>
            <a:off x="617676" y="1440636"/>
            <a:ext cx="273407" cy="273407"/>
          </a:xfrm>
          <a:prstGeom prst="rect">
            <a:avLst/>
          </a:prstGeom>
          <a:ln w="12700">
            <a:miter lim="400000"/>
          </a:ln>
        </p:spPr>
      </p:pic>
      <p:sp>
        <p:nvSpPr>
          <p:cNvPr id="138" name="Text 2"/>
          <p:cNvSpPr txBox="1"/>
          <p:nvPr/>
        </p:nvSpPr>
        <p:spPr>
          <a:xfrm>
            <a:off x="1234439" y="1314784"/>
            <a:ext cx="41148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4"/>
                </a:solidFill>
              </a:defRPr>
            </a:lvl1pPr>
          </a:lstStyle>
          <a:p>
            <a:pPr/>
            <a:r>
              <a:t>One upload script</a:t>
            </a:r>
          </a:p>
        </p:txBody>
      </p:sp>
      <p:sp>
        <p:nvSpPr>
          <p:cNvPr id="139" name="Text 3"/>
          <p:cNvSpPr txBox="1"/>
          <p:nvPr/>
        </p:nvSpPr>
        <p:spPr>
          <a:xfrm>
            <a:off x="1234439" y="1609344"/>
            <a:ext cx="4114801" cy="4179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pos_upload.py handles all three sources with a format flag. It flags a broken file in the log but still uploads it.</a:t>
            </a:r>
          </a:p>
        </p:txBody>
      </p:sp>
      <p:sp>
        <p:nvSpPr>
          <p:cNvPr id="140" name="Shape 4"/>
          <p:cNvSpPr/>
          <p:nvPr/>
        </p:nvSpPr>
        <p:spPr>
          <a:xfrm>
            <a:off x="457200" y="2377439"/>
            <a:ext cx="594360" cy="594361"/>
          </a:xfrm>
          <a:prstGeom prst="ellipse">
            <a:avLst/>
          </a:prstGeom>
          <a:solidFill>
            <a:schemeClr val="accent1"/>
          </a:solidFill>
          <a:ln w="12700">
            <a:solidFill>
              <a:schemeClr val="accent1"/>
            </a:solidFill>
          </a:ln>
        </p:spPr>
        <p:txBody>
          <a:bodyPr lIns="45719" rIns="45719"/>
          <a:lstStyle/>
          <a:p>
            <a:pPr/>
          </a:p>
        </p:txBody>
      </p:sp>
      <p:pic>
        <p:nvPicPr>
          <p:cNvPr id="141" name="Image 1" descr="Image 1"/>
          <p:cNvPicPr>
            <a:picLocks noChangeAspect="1"/>
          </p:cNvPicPr>
          <p:nvPr/>
        </p:nvPicPr>
        <p:blipFill>
          <a:blip r:embed="rId4">
            <a:extLst/>
          </a:blip>
          <a:stretch>
            <a:fillRect/>
          </a:stretch>
        </p:blipFill>
        <p:spPr>
          <a:xfrm>
            <a:off x="617676" y="2537916"/>
            <a:ext cx="273407" cy="273407"/>
          </a:xfrm>
          <a:prstGeom prst="rect">
            <a:avLst/>
          </a:prstGeom>
          <a:ln w="12700">
            <a:miter lim="400000"/>
          </a:ln>
        </p:spPr>
      </p:pic>
      <p:sp>
        <p:nvSpPr>
          <p:cNvPr id="142" name="Text 5"/>
          <p:cNvSpPr txBox="1"/>
          <p:nvPr/>
        </p:nvSpPr>
        <p:spPr>
          <a:xfrm>
            <a:off x="1234439" y="2412064"/>
            <a:ext cx="41148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4"/>
                </a:solidFill>
              </a:defRPr>
            </a:lvl1pPr>
          </a:lstStyle>
          <a:p>
            <a:pPr/>
            <a:r>
              <a:t>A Lambda checks every file</a:t>
            </a:r>
          </a:p>
        </p:txBody>
      </p:sp>
      <p:sp>
        <p:nvSpPr>
          <p:cNvPr id="143" name="Text 6"/>
          <p:cNvSpPr txBox="1"/>
          <p:nvPr/>
        </p:nvSpPr>
        <p:spPr>
          <a:xfrm>
            <a:off x="1234439" y="2706623"/>
            <a:ext cx="411480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Is it empty? Right header? Header only? Valid JSON? It runs on every upload.</a:t>
            </a:r>
          </a:p>
        </p:txBody>
      </p:sp>
      <p:sp>
        <p:nvSpPr>
          <p:cNvPr id="144" name="Shape 7"/>
          <p:cNvSpPr/>
          <p:nvPr/>
        </p:nvSpPr>
        <p:spPr>
          <a:xfrm>
            <a:off x="457200" y="3474720"/>
            <a:ext cx="594360" cy="594361"/>
          </a:xfrm>
          <a:prstGeom prst="ellipse">
            <a:avLst/>
          </a:prstGeom>
          <a:solidFill>
            <a:schemeClr val="accent2"/>
          </a:solidFill>
          <a:ln w="12700">
            <a:solidFill>
              <a:schemeClr val="accent2"/>
            </a:solidFill>
          </a:ln>
        </p:spPr>
        <p:txBody>
          <a:bodyPr lIns="45719" rIns="45719"/>
          <a:lstStyle/>
          <a:p>
            <a:pPr/>
          </a:p>
        </p:txBody>
      </p:sp>
      <p:pic>
        <p:nvPicPr>
          <p:cNvPr id="145" name="Image 2" descr="Image 2"/>
          <p:cNvPicPr>
            <a:picLocks noChangeAspect="1"/>
          </p:cNvPicPr>
          <p:nvPr/>
        </p:nvPicPr>
        <p:blipFill>
          <a:blip r:embed="rId5">
            <a:extLst/>
          </a:blip>
          <a:stretch>
            <a:fillRect/>
          </a:stretch>
        </p:blipFill>
        <p:spPr>
          <a:xfrm>
            <a:off x="617676" y="3635197"/>
            <a:ext cx="273407" cy="273407"/>
          </a:xfrm>
          <a:prstGeom prst="rect">
            <a:avLst/>
          </a:prstGeom>
          <a:ln w="12700">
            <a:miter lim="400000"/>
          </a:ln>
        </p:spPr>
      </p:pic>
      <p:sp>
        <p:nvSpPr>
          <p:cNvPr id="146" name="Text 8"/>
          <p:cNvSpPr txBox="1"/>
          <p:nvPr/>
        </p:nvSpPr>
        <p:spPr>
          <a:xfrm>
            <a:off x="1234439" y="3509344"/>
            <a:ext cx="41148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4"/>
                </a:solidFill>
              </a:defRPr>
            </a:lvl1pPr>
          </a:lstStyle>
          <a:p>
            <a:pPr/>
            <a:r>
              <a:t>Good to raw, bad to quarantine</a:t>
            </a:r>
          </a:p>
        </p:txBody>
      </p:sp>
      <p:sp>
        <p:nvSpPr>
          <p:cNvPr id="147" name="Text 9"/>
          <p:cNvSpPr txBox="1"/>
          <p:nvPr/>
        </p:nvSpPr>
        <p:spPr>
          <a:xfrm>
            <a:off x="1234439" y="3803903"/>
            <a:ext cx="411480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A bad file keeps its original and gets a reject-reason label.</a:t>
            </a:r>
          </a:p>
        </p:txBody>
      </p:sp>
      <p:sp>
        <p:nvSpPr>
          <p:cNvPr id="148" name="Result card"/>
          <p:cNvSpPr/>
          <p:nvPr/>
        </p:nvSpPr>
        <p:spPr>
          <a:xfrm>
            <a:off x="5760720" y="1280160"/>
            <a:ext cx="2926080" cy="3200401"/>
          </a:xfrm>
          <a:prstGeom prst="roundRect">
            <a:avLst>
              <a:gd name="adj" fmla="val 3125"/>
            </a:avLst>
          </a:prstGeom>
          <a:solidFill>
            <a:schemeClr val="accent4"/>
          </a:solidFill>
          <a:ln w="12700">
            <a:solidFill>
              <a:schemeClr val="accent4"/>
            </a:solidFill>
          </a:ln>
        </p:spPr>
        <p:txBody>
          <a:bodyPr lIns="45719" rIns="45719"/>
          <a:lstStyle/>
          <a:p>
            <a:pPr/>
          </a:p>
        </p:txBody>
      </p:sp>
      <p:sp>
        <p:nvSpPr>
          <p:cNvPr id="149" name="Text 11"/>
          <p:cNvSpPr txBox="1"/>
          <p:nvPr/>
        </p:nvSpPr>
        <p:spPr>
          <a:xfrm>
            <a:off x="5989320" y="1482660"/>
            <a:ext cx="246888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3"/>
                </a:solidFill>
              </a:defRPr>
            </a:lvl1pPr>
          </a:lstStyle>
          <a:p>
            <a:pPr/>
            <a:r>
              <a:t>Our POS run</a:t>
            </a:r>
          </a:p>
        </p:txBody>
      </p:sp>
      <p:sp>
        <p:nvSpPr>
          <p:cNvPr id="150" name="Text 12"/>
          <p:cNvSpPr txBox="1"/>
          <p:nvPr/>
        </p:nvSpPr>
        <p:spPr>
          <a:xfrm>
            <a:off x="5989320" y="1822449"/>
            <a:ext cx="2468881"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FFFFF"/>
                </a:solidFill>
                <a:latin typeface="Cambria"/>
                <a:ea typeface="Cambria"/>
                <a:cs typeface="Cambria"/>
                <a:sym typeface="Cambria"/>
              </a:defRPr>
            </a:lvl1pPr>
          </a:lstStyle>
          <a:p>
            <a:pPr/>
            <a:r>
              <a:t>16 uploaded</a:t>
            </a:r>
          </a:p>
        </p:txBody>
      </p:sp>
      <p:sp>
        <p:nvSpPr>
          <p:cNvPr id="151" name="Text 13"/>
          <p:cNvSpPr txBox="1"/>
          <p:nvPr/>
        </p:nvSpPr>
        <p:spPr>
          <a:xfrm>
            <a:off x="5989320" y="2371090"/>
            <a:ext cx="2468881"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chemeClr val="accent2"/>
                </a:solidFill>
                <a:latin typeface="Cambria"/>
                <a:ea typeface="Cambria"/>
                <a:cs typeface="Cambria"/>
                <a:sym typeface="Cambria"/>
              </a:defRPr>
            </a:lvl1pPr>
          </a:lstStyle>
          <a:p>
            <a:pPr/>
            <a:r>
              <a:t>2 flagged</a:t>
            </a:r>
          </a:p>
        </p:txBody>
      </p:sp>
      <p:sp>
        <p:nvSpPr>
          <p:cNvPr id="152" name="Text 14"/>
          <p:cNvSpPr txBox="1"/>
          <p:nvPr/>
        </p:nvSpPr>
        <p:spPr>
          <a:xfrm>
            <a:off x="5989320" y="3017520"/>
            <a:ext cx="2468881" cy="875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defRPr>
            </a:lvl1pPr>
          </a:lstStyle>
          <a:p>
            <a:pPr/>
            <a:r>
              <a:t>The empty file and the header-only file. The Lambda moved both to quarantine/pos/. The other 14 are in raw.</a:t>
            </a:r>
          </a:p>
        </p:txBody>
      </p:sp>
      <p:sp>
        <p:nvSpPr>
          <p:cNvPr id="153" name="Slide Number Placeholder 0"/>
          <p:cNvSpPr txBox="1"/>
          <p:nvPr>
            <p:ph type="sldNum" sz="quarter" idx="4294967295"/>
          </p:nvPr>
        </p:nvSpPr>
        <p:spPr>
          <a:xfrm>
            <a:off x="8609731" y="480060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Text 0"/>
          <p:cNvSpPr txBox="1"/>
          <p:nvPr>
            <p:ph type="title"/>
          </p:nvPr>
        </p:nvSpPr>
        <p:spPr>
          <a:xfrm>
            <a:off x="457199" y="274319"/>
            <a:ext cx="6583682" cy="731522"/>
          </a:xfrm>
          <a:prstGeom prst="rect">
            <a:avLst/>
          </a:prstGeom>
        </p:spPr>
        <p:txBody>
          <a:bodyPr lIns="0" tIns="0" rIns="0" bIns="0" anchor="ctr"/>
          <a:lstStyle/>
          <a:p>
            <a:pPr/>
            <a:r>
              <a:t>Raw to trusted</a:t>
            </a:r>
          </a:p>
        </p:txBody>
      </p:sp>
      <p:sp>
        <p:nvSpPr>
          <p:cNvPr id="158" name="Text 1"/>
          <p:cNvSpPr txBox="1"/>
          <p:nvPr/>
        </p:nvSpPr>
        <p:spPr>
          <a:xfrm>
            <a:off x="457199" y="1280160"/>
            <a:ext cx="4023361" cy="1865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800"/>
              </a:spcBef>
              <a:buSzPct val="100000"/>
              <a:buChar char="•"/>
              <a:defRPr sz="1400"/>
            </a:pPr>
            <a:r>
              <a:t>A crawler describes the raw files so Athena can read them</a:t>
            </a:r>
          </a:p>
          <a:p>
            <a:pPr marL="342900" indent="-342900">
              <a:spcBef>
                <a:spcPts val="800"/>
              </a:spcBef>
              <a:buSzPct val="100000"/>
              <a:buChar char="•"/>
              <a:defRPr sz="1400"/>
            </a:pPr>
            <a:r>
              <a:t>Glue jobs convert them to Parquet with real types</a:t>
            </a:r>
          </a:p>
          <a:p>
            <a:pPr marL="342900" indent="-342900">
              <a:spcBef>
                <a:spcPts val="800"/>
              </a:spcBef>
              <a:buSzPct val="100000"/>
              <a:buChar char="•"/>
              <a:defRPr sz="1400"/>
            </a:pPr>
            <a:r>
              <a:t>Sales job runs on demand. Customers job runs weekly</a:t>
            </a:r>
          </a:p>
          <a:p>
            <a:pPr marL="342900" indent="-342900">
              <a:spcBef>
                <a:spcPts val="800"/>
              </a:spcBef>
              <a:buSzPct val="100000"/>
              <a:buChar char="•"/>
              <a:defRPr sz="1400"/>
            </a:pPr>
            <a:r>
              <a:t>Bad values are caught, not dropped: 51 dates and 13 prices became parse errors</a:t>
            </a:r>
          </a:p>
        </p:txBody>
      </p:sp>
      <p:sp>
        <p:nvSpPr>
          <p:cNvPr id="159" name="Shape 2"/>
          <p:cNvSpPr/>
          <p:nvPr/>
        </p:nvSpPr>
        <p:spPr>
          <a:xfrm>
            <a:off x="457200" y="3977640"/>
            <a:ext cx="4023360" cy="685801"/>
          </a:xfrm>
          <a:prstGeom prst="roundRect">
            <a:avLst>
              <a:gd name="adj" fmla="val 10667"/>
            </a:avLst>
          </a:prstGeom>
          <a:solidFill>
            <a:srgbClr val="EAF2EE"/>
          </a:solidFill>
          <a:ln w="12700">
            <a:solidFill>
              <a:srgbClr val="EAF2EE"/>
            </a:solidFill>
          </a:ln>
        </p:spPr>
        <p:txBody>
          <a:bodyPr lIns="45719" rIns="45719"/>
          <a:lstStyle/>
          <a:p>
            <a:pPr/>
          </a:p>
        </p:txBody>
      </p:sp>
      <p:sp>
        <p:nvSpPr>
          <p:cNvPr id="160" name="Text 4"/>
          <p:cNvSpPr txBox="1"/>
          <p:nvPr/>
        </p:nvSpPr>
        <p:spPr>
          <a:xfrm>
            <a:off x="927462" y="4215963"/>
            <a:ext cx="2422189"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4"/>
                </a:solidFill>
              </a:defRPr>
            </a:lvl1pPr>
          </a:lstStyle>
          <a:p>
            <a:pPr/>
            <a:r>
              <a:t>4,633 sales rows in trusted</a:t>
            </a:r>
          </a:p>
        </p:txBody>
      </p:sp>
      <p:sp>
        <p:nvSpPr>
          <p:cNvPr id="161" name="Shape 5"/>
          <p:cNvSpPr/>
          <p:nvPr/>
        </p:nvSpPr>
        <p:spPr>
          <a:xfrm>
            <a:off x="4846320" y="3977640"/>
            <a:ext cx="3840480" cy="685801"/>
          </a:xfrm>
          <a:prstGeom prst="roundRect">
            <a:avLst>
              <a:gd name="adj" fmla="val 10667"/>
            </a:avLst>
          </a:prstGeom>
          <a:solidFill>
            <a:srgbClr val="EAF2EE"/>
          </a:solidFill>
          <a:ln w="12700">
            <a:solidFill>
              <a:srgbClr val="EAF2EE"/>
            </a:solidFill>
          </a:ln>
        </p:spPr>
        <p:txBody>
          <a:bodyPr lIns="45719" rIns="45719"/>
          <a:lstStyle/>
          <a:p>
            <a:pPr/>
          </a:p>
        </p:txBody>
      </p:sp>
      <p:sp>
        <p:nvSpPr>
          <p:cNvPr id="162" name="Text 6"/>
          <p:cNvSpPr txBox="1"/>
          <p:nvPr/>
        </p:nvSpPr>
        <p:spPr>
          <a:xfrm>
            <a:off x="4983479" y="4215963"/>
            <a:ext cx="356616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lvl1pPr>
          </a:lstStyle>
          <a:p>
            <a:pPr/>
            <a:r>
              <a:t>505 customers in the customers table.</a:t>
            </a:r>
          </a:p>
        </p:txBody>
      </p:sp>
      <p:sp>
        <p:nvSpPr>
          <p:cNvPr id="163" name="Slide Number Placeholder 0"/>
          <p:cNvSpPr txBox="1"/>
          <p:nvPr>
            <p:ph type="sldNum" sz="quarter" idx="4294967295"/>
          </p:nvPr>
        </p:nvSpPr>
        <p:spPr>
          <a:xfrm>
            <a:off x="8609731" y="480060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Text 0"/>
          <p:cNvSpPr txBox="1"/>
          <p:nvPr>
            <p:ph type="title"/>
          </p:nvPr>
        </p:nvSpPr>
        <p:spPr>
          <a:xfrm>
            <a:off x="457199" y="274319"/>
            <a:ext cx="6583682" cy="731522"/>
          </a:xfrm>
          <a:prstGeom prst="rect">
            <a:avLst/>
          </a:prstGeom>
        </p:spPr>
        <p:txBody>
          <a:bodyPr lIns="0" tIns="0" rIns="0" bIns="0" anchor="ctr"/>
          <a:lstStyle/>
          <a:p>
            <a:pPr/>
            <a:r>
              <a:t>The quality gate</a:t>
            </a:r>
          </a:p>
        </p:txBody>
      </p:sp>
      <p:sp>
        <p:nvSpPr>
          <p:cNvPr id="168" name="Stat card 1"/>
          <p:cNvSpPr/>
          <p:nvPr/>
        </p:nvSpPr>
        <p:spPr>
          <a:xfrm>
            <a:off x="457200" y="1280160"/>
            <a:ext cx="2926080" cy="960121"/>
          </a:xfrm>
          <a:prstGeom prst="roundRect">
            <a:avLst>
              <a:gd name="adj" fmla="val 9524"/>
            </a:avLst>
          </a:prstGeom>
          <a:solidFill>
            <a:srgbClr val="EAF2EE"/>
          </a:solidFill>
          <a:ln w="12700">
            <a:solidFill>
              <a:srgbClr val="EAF2EE"/>
            </a:solidFill>
          </a:ln>
        </p:spPr>
        <p:txBody>
          <a:bodyPr lIns="45719" rIns="45719"/>
          <a:lstStyle/>
          <a:p>
            <a:pPr/>
          </a:p>
        </p:txBody>
      </p:sp>
      <p:sp>
        <p:nvSpPr>
          <p:cNvPr id="169" name="Text 2"/>
          <p:cNvSpPr txBox="1"/>
          <p:nvPr/>
        </p:nvSpPr>
        <p:spPr>
          <a:xfrm>
            <a:off x="640079" y="1369821"/>
            <a:ext cx="256032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chemeClr val="accent4"/>
                </a:solidFill>
                <a:latin typeface="Cambria"/>
                <a:ea typeface="Cambria"/>
                <a:cs typeface="Cambria"/>
                <a:sym typeface="Cambria"/>
              </a:defRPr>
            </a:lvl1pPr>
          </a:lstStyle>
          <a:p>
            <a:pPr/>
            <a:r>
              <a:t>4,633</a:t>
            </a:r>
          </a:p>
        </p:txBody>
      </p:sp>
      <p:sp>
        <p:nvSpPr>
          <p:cNvPr id="170" name="Text 3"/>
          <p:cNvSpPr txBox="1"/>
          <p:nvPr/>
        </p:nvSpPr>
        <p:spPr>
          <a:xfrm>
            <a:off x="640079" y="1907856"/>
            <a:ext cx="25603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lvl1pPr>
          </a:lstStyle>
          <a:p>
            <a:pPr/>
            <a:r>
              <a:t>rows in</a:t>
            </a:r>
          </a:p>
        </p:txBody>
      </p:sp>
      <p:sp>
        <p:nvSpPr>
          <p:cNvPr id="171" name="Stat card 2"/>
          <p:cNvSpPr/>
          <p:nvPr/>
        </p:nvSpPr>
        <p:spPr>
          <a:xfrm>
            <a:off x="457200" y="2377439"/>
            <a:ext cx="2926080" cy="960121"/>
          </a:xfrm>
          <a:prstGeom prst="roundRect">
            <a:avLst>
              <a:gd name="adj" fmla="val 9524"/>
            </a:avLst>
          </a:prstGeom>
          <a:solidFill>
            <a:srgbClr val="EAF2EE"/>
          </a:solidFill>
          <a:ln w="12700">
            <a:solidFill>
              <a:srgbClr val="EAF2EE"/>
            </a:solidFill>
          </a:ln>
        </p:spPr>
        <p:txBody>
          <a:bodyPr lIns="45719" rIns="45719"/>
          <a:lstStyle/>
          <a:p>
            <a:pPr/>
          </a:p>
        </p:txBody>
      </p:sp>
      <p:sp>
        <p:nvSpPr>
          <p:cNvPr id="172" name="Text 5"/>
          <p:cNvSpPr txBox="1"/>
          <p:nvPr/>
        </p:nvSpPr>
        <p:spPr>
          <a:xfrm>
            <a:off x="640079" y="2467101"/>
            <a:ext cx="256032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chemeClr val="accent1"/>
                </a:solidFill>
                <a:latin typeface="Cambria"/>
                <a:ea typeface="Cambria"/>
                <a:cs typeface="Cambria"/>
                <a:sym typeface="Cambria"/>
              </a:defRPr>
            </a:lvl1pPr>
          </a:lstStyle>
          <a:p>
            <a:pPr/>
            <a:r>
              <a:t>4,381</a:t>
            </a:r>
          </a:p>
        </p:txBody>
      </p:sp>
      <p:sp>
        <p:nvSpPr>
          <p:cNvPr id="173" name="Text 6"/>
          <p:cNvSpPr txBox="1"/>
          <p:nvPr/>
        </p:nvSpPr>
        <p:spPr>
          <a:xfrm>
            <a:off x="640079" y="3005136"/>
            <a:ext cx="25603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lvl1pPr>
          </a:lstStyle>
          <a:p>
            <a:pPr/>
            <a:r>
              <a:t>to curated (94.6%)</a:t>
            </a:r>
          </a:p>
        </p:txBody>
      </p:sp>
      <p:sp>
        <p:nvSpPr>
          <p:cNvPr id="174" name="Stat card 3"/>
          <p:cNvSpPr/>
          <p:nvPr/>
        </p:nvSpPr>
        <p:spPr>
          <a:xfrm>
            <a:off x="457200" y="3474720"/>
            <a:ext cx="2926080" cy="960121"/>
          </a:xfrm>
          <a:prstGeom prst="roundRect">
            <a:avLst>
              <a:gd name="adj" fmla="val 9524"/>
            </a:avLst>
          </a:prstGeom>
          <a:solidFill>
            <a:srgbClr val="EAF2EE"/>
          </a:solidFill>
          <a:ln w="12700">
            <a:solidFill>
              <a:srgbClr val="EAF2EE"/>
            </a:solidFill>
          </a:ln>
        </p:spPr>
        <p:txBody>
          <a:bodyPr lIns="45719" rIns="45719"/>
          <a:lstStyle/>
          <a:p>
            <a:pPr/>
          </a:p>
        </p:txBody>
      </p:sp>
      <p:sp>
        <p:nvSpPr>
          <p:cNvPr id="175" name="Text 8"/>
          <p:cNvSpPr txBox="1"/>
          <p:nvPr/>
        </p:nvSpPr>
        <p:spPr>
          <a:xfrm>
            <a:off x="640079" y="3564381"/>
            <a:ext cx="256032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chemeClr val="accent2"/>
                </a:solidFill>
                <a:latin typeface="Cambria"/>
                <a:ea typeface="Cambria"/>
                <a:cs typeface="Cambria"/>
                <a:sym typeface="Cambria"/>
              </a:defRPr>
            </a:lvl1pPr>
          </a:lstStyle>
          <a:p>
            <a:pPr/>
            <a:r>
              <a:t>252</a:t>
            </a:r>
          </a:p>
        </p:txBody>
      </p:sp>
      <p:sp>
        <p:nvSpPr>
          <p:cNvPr id="176" name="Text 9"/>
          <p:cNvSpPr txBox="1"/>
          <p:nvPr/>
        </p:nvSpPr>
        <p:spPr>
          <a:xfrm>
            <a:off x="640079" y="4102416"/>
            <a:ext cx="25603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lvl1pPr>
          </a:lstStyle>
          <a:p>
            <a:pPr/>
            <a:r>
              <a:t>to quarantine, with reasons</a:t>
            </a:r>
          </a:p>
        </p:txBody>
      </p:sp>
      <p:sp>
        <p:nvSpPr>
          <p:cNvPr id="177" name="Text 10"/>
          <p:cNvSpPr txBox="1"/>
          <p:nvPr/>
        </p:nvSpPr>
        <p:spPr>
          <a:xfrm>
            <a:off x="3749040" y="1289883"/>
            <a:ext cx="493776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4"/>
                </a:solidFill>
              </a:defRPr>
            </a:lvl1pPr>
          </a:lstStyle>
          <a:p>
            <a:pPr/>
            <a:r>
              <a:t>Items flagged per rule (one item can fail several)</a:t>
            </a:r>
          </a:p>
        </p:txBody>
      </p:sp>
      <p:sp>
        <p:nvSpPr>
          <p:cNvPr id="178" name="Text 11"/>
          <p:cNvSpPr txBox="1"/>
          <p:nvPr/>
        </p:nvSpPr>
        <p:spPr>
          <a:xfrm>
            <a:off x="457200" y="4614480"/>
            <a:ext cx="82296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5E6F69"/>
                </a:solidFill>
              </a:defRPr>
            </a:lvl1pPr>
          </a:lstStyle>
          <a:p>
            <a:pPr/>
            <a:r>
              <a:t>Failed rows are kept with their reasons. Nothing is deleted.</a:t>
            </a:r>
          </a:p>
        </p:txBody>
      </p:sp>
      <p:sp>
        <p:nvSpPr>
          <p:cNvPr id="179" name="Slide Number Placeholder 0"/>
          <p:cNvSpPr txBox="1"/>
          <p:nvPr>
            <p:ph type="sldNum" sz="quarter" idx="4294967295"/>
          </p:nvPr>
        </p:nvSpPr>
        <p:spPr>
          <a:xfrm>
            <a:off x="8609731" y="480060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Text 0"/>
          <p:cNvSpPr txBox="1"/>
          <p:nvPr>
            <p:ph type="title"/>
          </p:nvPr>
        </p:nvSpPr>
        <p:spPr>
          <a:xfrm>
            <a:off x="457199" y="274319"/>
            <a:ext cx="6583682" cy="731522"/>
          </a:xfrm>
          <a:prstGeom prst="rect">
            <a:avLst/>
          </a:prstGeom>
        </p:spPr>
        <p:txBody>
          <a:bodyPr lIns="0" tIns="0" rIns="0" bIns="0" anchor="ctr"/>
          <a:lstStyle/>
          <a:p>
            <a:pPr/>
            <a:r>
              <a:t>What analysts see</a:t>
            </a:r>
          </a:p>
        </p:txBody>
      </p:sp>
      <p:pic>
        <p:nvPicPr>
          <p:cNvPr id="184" name="Image 0" descr="Image 0"/>
          <p:cNvPicPr>
            <a:picLocks noChangeAspect="1"/>
          </p:cNvPicPr>
          <p:nvPr/>
        </p:nvPicPr>
        <p:blipFill>
          <a:blip r:embed="rId3">
            <a:extLst/>
          </a:blip>
          <a:stretch>
            <a:fillRect/>
          </a:stretch>
        </p:blipFill>
        <p:spPr>
          <a:xfrm>
            <a:off x="457200" y="1234439"/>
            <a:ext cx="5212080" cy="3214117"/>
          </a:xfrm>
          <a:prstGeom prst="rect">
            <a:avLst/>
          </a:prstGeom>
          <a:ln w="12700">
            <a:miter lim="400000"/>
          </a:ln>
          <a:effectLst>
            <a:outerShdw sx="100000" sy="100000" kx="0" ky="0" algn="b" rotWithShape="0" blurRad="101600" dist="38100" dir="5400000">
              <a:srgbClr val="000000">
                <a:alpha val="25000"/>
              </a:srgbClr>
            </a:outerShdw>
          </a:effectLst>
        </p:spPr>
      </p:pic>
      <p:sp>
        <p:nvSpPr>
          <p:cNvPr id="185" name="Text 1"/>
          <p:cNvSpPr txBox="1"/>
          <p:nvPr/>
        </p:nvSpPr>
        <p:spPr>
          <a:xfrm>
            <a:off x="5943600" y="1273809"/>
            <a:ext cx="2743200"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chemeClr val="accent1"/>
                </a:solidFill>
                <a:latin typeface="Cambria"/>
                <a:ea typeface="Cambria"/>
                <a:cs typeface="Cambria"/>
                <a:sym typeface="Cambria"/>
              </a:defRPr>
            </a:lvl1pPr>
          </a:lstStyle>
          <a:p>
            <a:pPr/>
            <a:r>
              <a:t>$696,987</a:t>
            </a:r>
          </a:p>
        </p:txBody>
      </p:sp>
      <p:sp>
        <p:nvSpPr>
          <p:cNvPr id="186" name="Text 2"/>
          <p:cNvSpPr txBox="1"/>
          <p:nvPr/>
        </p:nvSpPr>
        <p:spPr>
          <a:xfrm>
            <a:off x="5943600" y="1783079"/>
            <a:ext cx="27432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CAD revenue (USD at 1.425)</a:t>
            </a:r>
          </a:p>
        </p:txBody>
      </p:sp>
      <p:sp>
        <p:nvSpPr>
          <p:cNvPr id="187" name="Text 3"/>
          <p:cNvSpPr txBox="1"/>
          <p:nvPr/>
        </p:nvSpPr>
        <p:spPr>
          <a:xfrm>
            <a:off x="5943600" y="2352802"/>
            <a:ext cx="2743200"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chemeClr val="accent1"/>
                </a:solidFill>
                <a:latin typeface="Cambria"/>
                <a:ea typeface="Cambria"/>
                <a:cs typeface="Cambria"/>
                <a:sym typeface="Cambria"/>
              </a:defRPr>
            </a:lvl1pPr>
          </a:lstStyle>
          <a:p>
            <a:pPr/>
            <a:r>
              <a:t>43%</a:t>
            </a:r>
          </a:p>
        </p:txBody>
      </p:sp>
      <p:sp>
        <p:nvSpPr>
          <p:cNvPr id="188" name="Text 4"/>
          <p:cNvSpPr txBox="1"/>
          <p:nvPr/>
        </p:nvSpPr>
        <p:spPr>
          <a:xfrm>
            <a:off x="5943600" y="2862072"/>
            <a:ext cx="2743200" cy="1893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of revenue is Camping</a:t>
            </a:r>
          </a:p>
        </p:txBody>
      </p:sp>
      <p:sp>
        <p:nvSpPr>
          <p:cNvPr id="189" name="Text 5"/>
          <p:cNvSpPr txBox="1"/>
          <p:nvPr/>
        </p:nvSpPr>
        <p:spPr>
          <a:xfrm>
            <a:off x="5943600" y="3431794"/>
            <a:ext cx="2743200"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chemeClr val="accent1"/>
                </a:solidFill>
                <a:latin typeface="Cambria"/>
                <a:ea typeface="Cambria"/>
                <a:cs typeface="Cambria"/>
                <a:sym typeface="Cambria"/>
              </a:defRPr>
            </a:lvl1pPr>
          </a:lstStyle>
          <a:p>
            <a:pPr/>
            <a:r>
              <a:t>64%</a:t>
            </a:r>
          </a:p>
        </p:txBody>
      </p:sp>
      <p:sp>
        <p:nvSpPr>
          <p:cNvPr id="190" name="Text 6"/>
          <p:cNvSpPr txBox="1"/>
          <p:nvPr/>
        </p:nvSpPr>
        <p:spPr>
          <a:xfrm>
            <a:off x="5943600" y="3941064"/>
            <a:ext cx="27432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comes from Ontario and Quebec</a:t>
            </a:r>
          </a:p>
        </p:txBody>
      </p:sp>
      <p:sp>
        <p:nvSpPr>
          <p:cNvPr id="191" name="Slide Number Placeholder 0"/>
          <p:cNvSpPr txBox="1"/>
          <p:nvPr>
            <p:ph type="sldNum" sz="quarter" idx="4294967295"/>
          </p:nvPr>
        </p:nvSpPr>
        <p:spPr>
          <a:xfrm>
            <a:off x="8609731" y="480060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Text 0"/>
          <p:cNvSpPr txBox="1"/>
          <p:nvPr>
            <p:ph type="title"/>
          </p:nvPr>
        </p:nvSpPr>
        <p:spPr>
          <a:xfrm>
            <a:off x="457199" y="274319"/>
            <a:ext cx="6583682" cy="731522"/>
          </a:xfrm>
          <a:prstGeom prst="rect">
            <a:avLst/>
          </a:prstGeom>
        </p:spPr>
        <p:txBody>
          <a:bodyPr lIns="0" tIns="0" rIns="0" bIns="0" anchor="ctr"/>
          <a:lstStyle/>
          <a:p>
            <a:pPr/>
            <a:r>
              <a:t>Governance</a:t>
            </a:r>
          </a:p>
        </p:txBody>
      </p:sp>
      <p:sp>
        <p:nvSpPr>
          <p:cNvPr id="196" name="Text 1"/>
          <p:cNvSpPr txBox="1"/>
          <p:nvPr/>
        </p:nvSpPr>
        <p:spPr>
          <a:xfrm>
            <a:off x="457199" y="1247229"/>
            <a:ext cx="3931922"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4"/>
                </a:solidFill>
              </a:defRPr>
            </a:lvl1pPr>
          </a:lstStyle>
          <a:p>
            <a:pPr/>
            <a:r>
              <a:t>Built</a:t>
            </a:r>
          </a:p>
        </p:txBody>
      </p:sp>
      <p:sp>
        <p:nvSpPr>
          <p:cNvPr id="197" name="Shape 2"/>
          <p:cNvSpPr/>
          <p:nvPr/>
        </p:nvSpPr>
        <p:spPr>
          <a:xfrm>
            <a:off x="457200" y="1645920"/>
            <a:ext cx="548641" cy="548641"/>
          </a:xfrm>
          <a:prstGeom prst="ellipse">
            <a:avLst/>
          </a:prstGeom>
          <a:solidFill>
            <a:schemeClr val="accent1"/>
          </a:solidFill>
          <a:ln w="12700">
            <a:solidFill>
              <a:schemeClr val="accent1"/>
            </a:solidFill>
          </a:ln>
        </p:spPr>
        <p:txBody>
          <a:bodyPr lIns="45719" rIns="45719"/>
          <a:lstStyle/>
          <a:p>
            <a:pPr/>
          </a:p>
        </p:txBody>
      </p:sp>
      <p:pic>
        <p:nvPicPr>
          <p:cNvPr id="198" name="Image 0" descr="Image 0"/>
          <p:cNvPicPr>
            <a:picLocks noChangeAspect="1"/>
          </p:cNvPicPr>
          <p:nvPr/>
        </p:nvPicPr>
        <p:blipFill>
          <a:blip r:embed="rId3">
            <a:extLst/>
          </a:blip>
          <a:stretch>
            <a:fillRect/>
          </a:stretch>
        </p:blipFill>
        <p:spPr>
          <a:xfrm>
            <a:off x="605333" y="1794053"/>
            <a:ext cx="252375" cy="252375"/>
          </a:xfrm>
          <a:prstGeom prst="rect">
            <a:avLst/>
          </a:prstGeom>
          <a:ln w="12700">
            <a:miter lim="400000"/>
          </a:ln>
        </p:spPr>
      </p:pic>
      <p:sp>
        <p:nvSpPr>
          <p:cNvPr id="199" name="Text 3"/>
          <p:cNvSpPr txBox="1"/>
          <p:nvPr/>
        </p:nvSpPr>
        <p:spPr>
          <a:xfrm>
            <a:off x="1188719" y="1651071"/>
            <a:ext cx="32004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lvl1pPr>
          </a:lstStyle>
          <a:p>
            <a:pPr/>
            <a:r>
              <a:t>Bucket policies</a:t>
            </a:r>
          </a:p>
        </p:txBody>
      </p:sp>
      <p:sp>
        <p:nvSpPr>
          <p:cNvPr id="200" name="Text 4"/>
          <p:cNvSpPr txBox="1"/>
          <p:nvPr/>
        </p:nvSpPr>
        <p:spPr>
          <a:xfrm>
            <a:off x="1188719" y="1901951"/>
            <a:ext cx="320040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Deny access to upstream zones and quarantine, except the pipeline role</a:t>
            </a:r>
          </a:p>
        </p:txBody>
      </p:sp>
      <p:sp>
        <p:nvSpPr>
          <p:cNvPr id="201" name="Shape 5"/>
          <p:cNvSpPr/>
          <p:nvPr/>
        </p:nvSpPr>
        <p:spPr>
          <a:xfrm>
            <a:off x="457200" y="2606039"/>
            <a:ext cx="548641" cy="548641"/>
          </a:xfrm>
          <a:prstGeom prst="ellipse">
            <a:avLst/>
          </a:prstGeom>
          <a:solidFill>
            <a:schemeClr val="accent1"/>
          </a:solidFill>
          <a:ln w="12700">
            <a:solidFill>
              <a:schemeClr val="accent1"/>
            </a:solidFill>
          </a:ln>
        </p:spPr>
        <p:txBody>
          <a:bodyPr lIns="45719" rIns="45719"/>
          <a:lstStyle/>
          <a:p>
            <a:pPr/>
          </a:p>
        </p:txBody>
      </p:sp>
      <p:pic>
        <p:nvPicPr>
          <p:cNvPr id="202" name="Image 1" descr="Image 1"/>
          <p:cNvPicPr>
            <a:picLocks noChangeAspect="1"/>
          </p:cNvPicPr>
          <p:nvPr/>
        </p:nvPicPr>
        <p:blipFill>
          <a:blip r:embed="rId4">
            <a:extLst/>
          </a:blip>
          <a:stretch>
            <a:fillRect/>
          </a:stretch>
        </p:blipFill>
        <p:spPr>
          <a:xfrm>
            <a:off x="605333" y="2754172"/>
            <a:ext cx="252375" cy="252375"/>
          </a:xfrm>
          <a:prstGeom prst="rect">
            <a:avLst/>
          </a:prstGeom>
          <a:ln w="12700">
            <a:miter lim="400000"/>
          </a:ln>
        </p:spPr>
      </p:pic>
      <p:sp>
        <p:nvSpPr>
          <p:cNvPr id="203" name="Text 6"/>
          <p:cNvSpPr txBox="1"/>
          <p:nvPr/>
        </p:nvSpPr>
        <p:spPr>
          <a:xfrm>
            <a:off x="1188719" y="2611191"/>
            <a:ext cx="32004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lvl1pPr>
          </a:lstStyle>
          <a:p>
            <a:pPr/>
            <a:r>
              <a:t>Analyst IAM policy</a:t>
            </a:r>
          </a:p>
        </p:txBody>
      </p:sp>
      <p:sp>
        <p:nvSpPr>
          <p:cNvPr id="204" name="Text 7"/>
          <p:cNvSpPr txBox="1"/>
          <p:nvPr/>
        </p:nvSpPr>
        <p:spPr>
          <a:xfrm>
            <a:off x="1188719" y="2862072"/>
            <a:ext cx="3200401" cy="1893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Curated data only, in one Athena workgroup</a:t>
            </a:r>
          </a:p>
        </p:txBody>
      </p:sp>
      <p:sp>
        <p:nvSpPr>
          <p:cNvPr id="205" name="Shape 8"/>
          <p:cNvSpPr/>
          <p:nvPr/>
        </p:nvSpPr>
        <p:spPr>
          <a:xfrm>
            <a:off x="457200" y="3566159"/>
            <a:ext cx="548641" cy="548641"/>
          </a:xfrm>
          <a:prstGeom prst="ellipse">
            <a:avLst/>
          </a:prstGeom>
          <a:solidFill>
            <a:schemeClr val="accent1"/>
          </a:solidFill>
          <a:ln w="12700">
            <a:solidFill>
              <a:schemeClr val="accent1"/>
            </a:solidFill>
          </a:ln>
        </p:spPr>
        <p:txBody>
          <a:bodyPr lIns="45719" rIns="45719"/>
          <a:lstStyle/>
          <a:p>
            <a:pPr/>
          </a:p>
        </p:txBody>
      </p:sp>
      <p:pic>
        <p:nvPicPr>
          <p:cNvPr id="206" name="Image 2" descr="Image 2"/>
          <p:cNvPicPr>
            <a:picLocks noChangeAspect="1"/>
          </p:cNvPicPr>
          <p:nvPr/>
        </p:nvPicPr>
        <p:blipFill>
          <a:blip r:embed="rId5">
            <a:extLst/>
          </a:blip>
          <a:stretch>
            <a:fillRect/>
          </a:stretch>
        </p:blipFill>
        <p:spPr>
          <a:xfrm>
            <a:off x="605333" y="3714293"/>
            <a:ext cx="252375" cy="252375"/>
          </a:xfrm>
          <a:prstGeom prst="rect">
            <a:avLst/>
          </a:prstGeom>
          <a:ln w="12700">
            <a:miter lim="400000"/>
          </a:ln>
        </p:spPr>
      </p:pic>
      <p:sp>
        <p:nvSpPr>
          <p:cNvPr id="207" name="Text 9"/>
          <p:cNvSpPr txBox="1"/>
          <p:nvPr/>
        </p:nvSpPr>
        <p:spPr>
          <a:xfrm>
            <a:off x="1188719" y="3571311"/>
            <a:ext cx="32004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lvl1pPr>
          </a:lstStyle>
          <a:p>
            <a:pPr/>
            <a:r>
              <a:t>Scan limit</a:t>
            </a:r>
          </a:p>
        </p:txBody>
      </p:sp>
      <p:sp>
        <p:nvSpPr>
          <p:cNvPr id="208" name="Text 10"/>
          <p:cNvSpPr txBox="1"/>
          <p:nvPr/>
        </p:nvSpPr>
        <p:spPr>
          <a:xfrm>
            <a:off x="1188719" y="3822191"/>
            <a:ext cx="32004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lvl1pPr>
          </a:lstStyle>
          <a:p>
            <a:pPr/>
            <a:r>
              <a:t>The workgroup caps each query at 1 GB</a:t>
            </a:r>
          </a:p>
        </p:txBody>
      </p:sp>
      <p:sp>
        <p:nvSpPr>
          <p:cNvPr id="209" name="Planned card"/>
          <p:cNvSpPr/>
          <p:nvPr/>
        </p:nvSpPr>
        <p:spPr>
          <a:xfrm>
            <a:off x="4754879" y="1188719"/>
            <a:ext cx="3931921" cy="2926081"/>
          </a:xfrm>
          <a:prstGeom prst="roundRect">
            <a:avLst>
              <a:gd name="adj" fmla="val 3125"/>
            </a:avLst>
          </a:prstGeom>
          <a:solidFill>
            <a:srgbClr val="FFFFFF"/>
          </a:solidFill>
          <a:ln w="19050">
            <a:solidFill>
              <a:schemeClr val="accent2"/>
            </a:solidFill>
            <a:prstDash val="dash"/>
          </a:ln>
        </p:spPr>
        <p:txBody>
          <a:bodyPr lIns="45719" rIns="45719"/>
          <a:lstStyle/>
          <a:p>
            <a:pPr/>
          </a:p>
        </p:txBody>
      </p:sp>
      <p:sp>
        <p:nvSpPr>
          <p:cNvPr id="210" name="Text 12"/>
          <p:cNvSpPr txBox="1"/>
          <p:nvPr/>
        </p:nvSpPr>
        <p:spPr>
          <a:xfrm>
            <a:off x="4983479" y="1384389"/>
            <a:ext cx="347472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2"/>
                </a:solidFill>
              </a:defRPr>
            </a:lvl1pPr>
          </a:lstStyle>
          <a:p>
            <a:pPr/>
            <a:r>
              <a:t>Planned: Lake Formation</a:t>
            </a:r>
          </a:p>
        </p:txBody>
      </p:sp>
      <p:sp>
        <p:nvSpPr>
          <p:cNvPr id="211" name="Text 13"/>
          <p:cNvSpPr txBox="1"/>
          <p:nvPr/>
        </p:nvSpPr>
        <p:spPr>
          <a:xfrm>
            <a:off x="4983479" y="1783079"/>
            <a:ext cx="3474721" cy="2094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800"/>
              </a:spcBef>
              <a:buSzPct val="100000"/>
              <a:buChar char="•"/>
              <a:defRPr sz="1400"/>
            </a:pPr>
            <a:r>
              <a:t>Analysts would get SELECT and DESCRIBE on the curated table only</a:t>
            </a:r>
          </a:p>
          <a:p>
            <a:pPr marL="342900" indent="-342900">
              <a:spcBef>
                <a:spcPts val="800"/>
              </a:spcBef>
              <a:buSzPct val="100000"/>
              <a:buChar char="•"/>
              <a:defRPr sz="1400"/>
            </a:pPr>
            <a:r>
              <a:t>Landing, raw, trusted and quarantine: no access</a:t>
            </a:r>
          </a:p>
          <a:p>
            <a:pPr marL="342900" indent="-342900">
              <a:spcBef>
                <a:spcPts val="800"/>
              </a:spcBef>
              <a:buSzPct val="100000"/>
              <a:buChar char="•"/>
              <a:defRPr sz="1400"/>
            </a:pPr>
            <a:r>
              <a:t>Not built: the Learner Lab role gets AccessDenied on Lake Formation</a:t>
            </a:r>
          </a:p>
          <a:p>
            <a:pPr marL="342900" indent="-342900">
              <a:spcBef>
                <a:spcPts val="800"/>
              </a:spcBef>
              <a:buSzPct val="100000"/>
              <a:buChar char="•"/>
              <a:defRPr sz="1400"/>
            </a:pPr>
            <a:r>
              <a:t>The permission set is written up in the repo</a:t>
            </a:r>
          </a:p>
        </p:txBody>
      </p:sp>
      <p:sp>
        <p:nvSpPr>
          <p:cNvPr id="212" name="Slide Number Placeholder 0"/>
          <p:cNvSpPr txBox="1"/>
          <p:nvPr>
            <p:ph type="sldNum" sz="quarter" idx="4294967295"/>
          </p:nvPr>
        </p:nvSpPr>
        <p:spPr>
          <a:xfrm>
            <a:off x="8609731" y="4800600"/>
            <a:ext cx="168510"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Text 0"/>
          <p:cNvSpPr txBox="1"/>
          <p:nvPr/>
        </p:nvSpPr>
        <p:spPr>
          <a:xfrm>
            <a:off x="640079" y="1544319"/>
            <a:ext cx="7863842"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4400">
                <a:solidFill>
                  <a:srgbClr val="FFFFFF"/>
                </a:solidFill>
                <a:latin typeface="Cambria"/>
                <a:ea typeface="Cambria"/>
                <a:cs typeface="Cambria"/>
                <a:sym typeface="Cambria"/>
              </a:defRPr>
            </a:lvl1pPr>
          </a:lstStyle>
          <a:p>
            <a:pPr/>
            <a:r>
              <a:t>Demo, then questions</a:t>
            </a:r>
          </a:p>
        </p:txBody>
      </p:sp>
      <p:sp>
        <p:nvSpPr>
          <p:cNvPr id="217" name="Text 1"/>
          <p:cNvSpPr txBox="1"/>
          <p:nvPr/>
        </p:nvSpPr>
        <p:spPr>
          <a:xfrm>
            <a:off x="640079" y="2651760"/>
            <a:ext cx="7863842" cy="106154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800"/>
              </a:spcBef>
              <a:buSzPct val="100000"/>
              <a:buChar char="•"/>
              <a:defRPr sz="2000">
                <a:solidFill>
                  <a:srgbClr val="FFFFFF"/>
                </a:solidFill>
              </a:defRPr>
            </a:pPr>
            <a:r>
              <a:t>A broken file lands and the Lambda quarantines it</a:t>
            </a:r>
          </a:p>
          <a:p>
            <a:pPr marL="342900" indent="-342900">
              <a:spcBef>
                <a:spcPts val="800"/>
              </a:spcBef>
              <a:buSzPct val="100000"/>
              <a:buChar char="•"/>
              <a:defRPr sz="2000">
                <a:solidFill>
                  <a:srgbClr val="FFFFFF"/>
                </a:solidFill>
              </a:defRPr>
            </a:pPr>
            <a:r>
              <a:t>Run the raw crawler, then the Glue jobs, live</a:t>
            </a:r>
          </a:p>
          <a:p>
            <a:pPr marL="342900" indent="-342900">
              <a:spcBef>
                <a:spcPts val="800"/>
              </a:spcBef>
              <a:buSzPct val="100000"/>
              <a:buChar char="•"/>
              <a:defRPr sz="2000">
                <a:solidFill>
                  <a:srgbClr val="FFFFFF"/>
                </a:solidFill>
              </a:defRPr>
            </a:pPr>
            <a:r>
              <a:t>Query the trusted tables in Athena</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Thornquist Pine">
  <a:themeElements>
    <a:clrScheme name="Thornquist Pine">
      <a:dk1>
        <a:srgbClr val="1B2B27"/>
      </a:dk1>
      <a:lt1>
        <a:srgbClr val="1F3D36"/>
      </a:lt1>
      <a:dk2>
        <a:srgbClr val="A7A7A7"/>
      </a:dk2>
      <a:lt2>
        <a:srgbClr val="535353"/>
      </a:lt2>
      <a:accent1>
        <a:srgbClr val="2F8F83"/>
      </a:accent1>
      <a:accent2>
        <a:srgbClr val="E8875B"/>
      </a:accent2>
      <a:accent3>
        <a:srgbClr val="7FCDB0"/>
      </a:accent3>
      <a:accent4>
        <a:srgbClr val="1F3D36"/>
      </a:accent4>
      <a:accent5>
        <a:srgbClr val="8A9A94"/>
      </a:accent5>
      <a:accent6>
        <a:srgbClr val="C9A66B"/>
      </a:accent6>
      <a:hlink>
        <a:srgbClr val="0000FF"/>
      </a:hlink>
      <a:folHlink>
        <a:srgbClr val="FF00FF"/>
      </a:folHlink>
    </a:clrScheme>
    <a:fontScheme name="Thornquist Pine">
      <a:majorFont>
        <a:latin typeface="Helvetica"/>
        <a:ea typeface="Helvetica"/>
        <a:cs typeface="Helvetica"/>
      </a:majorFont>
      <a:minorFont>
        <a:latin typeface="Calibri"/>
        <a:ea typeface="Calibri"/>
        <a:cs typeface="Calibri"/>
      </a:minorFont>
    </a:fontScheme>
    <a:fmtScheme name="Thornquist P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2B27"/>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2B27"/>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Thornquist Pine">
  <a:themeElements>
    <a:clrScheme name="Thornquist Pine">
      <a:dk1>
        <a:srgbClr val="1B2B27"/>
      </a:dk1>
      <a:lt1>
        <a:srgbClr val="2B1017"/>
      </a:lt1>
      <a:dk2>
        <a:srgbClr val="A7A7A7"/>
      </a:dk2>
      <a:lt2>
        <a:srgbClr val="535353"/>
      </a:lt2>
      <a:accent1>
        <a:srgbClr val="2F8F83"/>
      </a:accent1>
      <a:accent2>
        <a:srgbClr val="E8875B"/>
      </a:accent2>
      <a:accent3>
        <a:srgbClr val="7FCDB0"/>
      </a:accent3>
      <a:accent4>
        <a:srgbClr val="1F3D36"/>
      </a:accent4>
      <a:accent5>
        <a:srgbClr val="8A9A94"/>
      </a:accent5>
      <a:accent6>
        <a:srgbClr val="C9A66B"/>
      </a:accent6>
      <a:hlink>
        <a:srgbClr val="0000FF"/>
      </a:hlink>
      <a:folHlink>
        <a:srgbClr val="FF00FF"/>
      </a:folHlink>
    </a:clrScheme>
    <a:fontScheme name="Thornquist Pine">
      <a:majorFont>
        <a:latin typeface="Helvetica"/>
        <a:ea typeface="Helvetica"/>
        <a:cs typeface="Helvetica"/>
      </a:majorFont>
      <a:minorFont>
        <a:latin typeface="Calibri"/>
        <a:ea typeface="Calibri"/>
        <a:cs typeface="Calibri"/>
      </a:minorFont>
    </a:fontScheme>
    <a:fmtScheme name="Thornquist P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2B27"/>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2B27"/>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